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48e29e49b24cd0" /><Relationship Type="http://schemas.openxmlformats.org/officeDocument/2006/relationships/extended-properties" Target="/docProps/app.xml" Id="Rfb4972ded50f42af" /><Relationship Type="http://schemas.openxmlformats.org/officeDocument/2006/relationships/officeDocument" Target="/ppt/presentation.xml" Id="R2cae47da18cb47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644537859a4d9a"/>
  </p:sldMasterIdLst>
  <p:notesMasterIdLst>
    <p:notesMasterId xmlns:r="http://schemas.openxmlformats.org/officeDocument/2006/relationships" r:id="R5d196ede72254729"/>
  </p:notesMasterIdLst>
  <p:sldIdLst>
    <p:sldId xmlns:r="http://schemas.openxmlformats.org/officeDocument/2006/relationships" id="256" r:id="R2487ab18482f4451"/>
    <p:sldId xmlns:r="http://schemas.openxmlformats.org/officeDocument/2006/relationships" id="257" r:id="R78cc58d6a0c04abf"/>
    <p:sldId xmlns:r="http://schemas.openxmlformats.org/officeDocument/2006/relationships" id="258" r:id="R521348f422b74246"/>
    <p:sldId xmlns:r="http://schemas.openxmlformats.org/officeDocument/2006/relationships" id="259" r:id="R2746e907fb9948fa"/>
    <p:sldId xmlns:r="http://schemas.openxmlformats.org/officeDocument/2006/relationships" id="260" r:id="Rb9e4674006d04767"/>
    <p:sldId xmlns:r="http://schemas.openxmlformats.org/officeDocument/2006/relationships" id="261" r:id="Rdee77882efe94cbf"/>
    <p:sldId xmlns:r="http://schemas.openxmlformats.org/officeDocument/2006/relationships" id="262" r:id="Rd71cdf9a92c04fdc"/>
    <p:sldId xmlns:r="http://schemas.openxmlformats.org/officeDocument/2006/relationships" id="263" r:id="Rca308d6153db4e7b"/>
    <p:sldId xmlns:r="http://schemas.openxmlformats.org/officeDocument/2006/relationships" id="264" r:id="Re1c0c7dca1c14e3f"/>
    <p:sldId xmlns:r="http://schemas.openxmlformats.org/officeDocument/2006/relationships" id="265" r:id="Rb2d061fbda444a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70d0df5de4332" /><Relationship Type="http://schemas.openxmlformats.org/officeDocument/2006/relationships/slideMaster" Target="/ppt/slideMasters/slideMaster1.xml" Id="Rde644537859a4d9a" /><Relationship Type="http://schemas.openxmlformats.org/officeDocument/2006/relationships/notesMaster" Target="/ppt/notesMasters/notesMaster1.xml" Id="R5d196ede72254729" /><Relationship Type="http://schemas.openxmlformats.org/officeDocument/2006/relationships/presProps" Target="/ppt/presProps.xml" Id="Rc3602bf7e3904160" /><Relationship Type="http://schemas.openxmlformats.org/officeDocument/2006/relationships/tableStyles" Target="/ppt/tableStyles.xml" Id="R7147a2d7e976498f" /><Relationship Type="http://schemas.openxmlformats.org/officeDocument/2006/relationships/slide" Target="/ppt/slides/slide1.xml" Id="R2487ab18482f4451" /><Relationship Type="http://schemas.openxmlformats.org/officeDocument/2006/relationships/slide" Target="/ppt/slides/slide2.xml" Id="R78cc58d6a0c04abf" /><Relationship Type="http://schemas.openxmlformats.org/officeDocument/2006/relationships/slide" Target="/ppt/slides/slide3.xml" Id="R521348f422b74246" /><Relationship Type="http://schemas.openxmlformats.org/officeDocument/2006/relationships/slide" Target="/ppt/slides/slide4.xml" Id="R2746e907fb9948fa" /><Relationship Type="http://schemas.openxmlformats.org/officeDocument/2006/relationships/slide" Target="/ppt/slides/slide5.xml" Id="Rb9e4674006d04767" /><Relationship Type="http://schemas.openxmlformats.org/officeDocument/2006/relationships/slide" Target="/ppt/slides/slide6.xml" Id="Rdee77882efe94cbf" /><Relationship Type="http://schemas.openxmlformats.org/officeDocument/2006/relationships/slide" Target="/ppt/slides/slide7.xml" Id="Rd71cdf9a92c04fdc" /><Relationship Type="http://schemas.openxmlformats.org/officeDocument/2006/relationships/slide" Target="/ppt/slides/slide8.xml" Id="Rca308d6153db4e7b" /><Relationship Type="http://schemas.openxmlformats.org/officeDocument/2006/relationships/slide" Target="/ppt/slides/slide9.xml" Id="Re1c0c7dca1c14e3f" /><Relationship Type="http://schemas.openxmlformats.org/officeDocument/2006/relationships/slide" Target="/ppt/slides/slide10.xml" Id="Rb2d061fbda44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a552ad7a244f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91d07c6f594f58" /><Relationship Type="http://schemas.openxmlformats.org/officeDocument/2006/relationships/notesMaster" Target="/ppt/notesMasters/notesMaster1.xml" Id="Rf9c86022bac9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d4256f35dd4d61" /><Relationship Type="http://schemas.openxmlformats.org/officeDocument/2006/relationships/notesMaster" Target="/ppt/notesMasters/notesMaster1.xml" Id="Rb64f1abadba84c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e7151d62024485" /><Relationship Type="http://schemas.openxmlformats.org/officeDocument/2006/relationships/notesMaster" Target="/ppt/notesMasters/notesMaster1.xml" Id="Rb648676f21154f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e53e7e0000405d" /><Relationship Type="http://schemas.openxmlformats.org/officeDocument/2006/relationships/notesMaster" Target="/ppt/notesMasters/notesMaster1.xml" Id="R50876743c7264a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78f6170205430d" /><Relationship Type="http://schemas.openxmlformats.org/officeDocument/2006/relationships/notesMaster" Target="/ppt/notesMasters/notesMaster1.xml" Id="R05a0937a6b04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595c358d4540fb" /><Relationship Type="http://schemas.openxmlformats.org/officeDocument/2006/relationships/notesMaster" Target="/ppt/notesMasters/notesMaster1.xml" Id="R39f9a4525baf45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d818542c364d1d" /><Relationship Type="http://schemas.openxmlformats.org/officeDocument/2006/relationships/notesMaster" Target="/ppt/notesMasters/notesMaster1.xml" Id="Rf23b6cd207c94e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59bc2b185e414a" /><Relationship Type="http://schemas.openxmlformats.org/officeDocument/2006/relationships/notesMaster" Target="/ppt/notesMasters/notesMaster1.xml" Id="R708a20256db4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0511e0a9b648f2" /><Relationship Type="http://schemas.openxmlformats.org/officeDocument/2006/relationships/notesMaster" Target="/ppt/notesMasters/notesMaster1.xml" Id="R6bf7c2d588ac40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01efd353b54e59" /><Relationship Type="http://schemas.openxmlformats.org/officeDocument/2006/relationships/notesMaster" Target="/ppt/notesMasters/notesMaster1.xml" Id="R305042b134c646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8568f94ee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79f48b9f0d48b9" /><Relationship Type="http://schemas.openxmlformats.org/officeDocument/2006/relationships/slideLayout" Target="/ppt/slideLayouts/slideLayout1.xml" Id="R05cf9a23b77e4a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cf9a23b77e4a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0878e31514742" /><Relationship Type="http://schemas.openxmlformats.org/officeDocument/2006/relationships/notesSlide" Target="/ppt/notesSlides/notesSlide1.xml" Id="Re49ca622916d4c2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fb8ce185a4bb7" /><Relationship Type="http://schemas.openxmlformats.org/officeDocument/2006/relationships/notesSlide" Target="/ppt/notesSlides/notesSlide2.xml" Id="Rf194a897b8b0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9df29b4a0496f" /><Relationship Type="http://schemas.openxmlformats.org/officeDocument/2006/relationships/notesSlide" Target="/ppt/notesSlides/notesSlide3.xml" Id="R6aa5f6a5d4b74f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03afa646d4e6b" /><Relationship Type="http://schemas.openxmlformats.org/officeDocument/2006/relationships/notesSlide" Target="/ppt/notesSlides/notesSlide4.xml" Id="R8c58e4fc5ede4d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22bcdc9d846b1" /><Relationship Type="http://schemas.openxmlformats.org/officeDocument/2006/relationships/notesSlide" Target="/ppt/notesSlides/notesSlide5.xml" Id="Rd3d83154dce94e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d2d5ab16d4a16" /><Relationship Type="http://schemas.openxmlformats.org/officeDocument/2006/relationships/notesSlide" Target="/ppt/notesSlides/notesSlide6.xml" Id="R20fc5d6263ac47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d401d998c4903" /><Relationship Type="http://schemas.openxmlformats.org/officeDocument/2006/relationships/image" Target="/ppt/media/image.png" Id="R8d17d23839d04005" /><Relationship Type="http://schemas.openxmlformats.org/officeDocument/2006/relationships/image" Target="/ppt/media/image2.png" Id="R61289e2ea73c4dd3" /><Relationship Type="http://schemas.openxmlformats.org/officeDocument/2006/relationships/notesSlide" Target="/ppt/notesSlides/notesSlide7.xml" Id="R4a3b5fb5b98642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a9902fd164e3e" /><Relationship Type="http://schemas.openxmlformats.org/officeDocument/2006/relationships/image" Target="/ppt/media/image3.png" Id="R519a3cd556de43fa" /><Relationship Type="http://schemas.openxmlformats.org/officeDocument/2006/relationships/image" Target="/ppt/media/image4.png" Id="R812852f9729a47e0" /><Relationship Type="http://schemas.openxmlformats.org/officeDocument/2006/relationships/notesSlide" Target="/ppt/notesSlides/notesSlide8.xml" Id="R0addd0276dfd43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638a4975846cf" /><Relationship Type="http://schemas.openxmlformats.org/officeDocument/2006/relationships/notesSlide" Target="/ppt/notesSlides/notesSlide9.xml" Id="R259f0ac8e25247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85bf56c9b4842" /><Relationship Type="http://schemas.openxmlformats.org/officeDocument/2006/relationships/notesSlide" Target="/ppt/notesSlides/notesSlide10.xml" Id="R418d572e68734c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01584-37DF-4654-A809-A3569599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</a:defRPr>
            </a:pPr>
            <a:r>
              <a:rPr sz="3900" b="1">
                <a:solidFill>
                  <a:srgbClr val="111111"/>
                </a:solidFill>
              </a:rPr>
              <a:t>ZipServ 论文复现汇报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C8841-207A-4608-BE14-107D903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Fast and Memory-Efficient LLM Inference with Hardware-Aware Lossless Compression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C7E0C-3E7B-4A4F-B7CF-925E62EA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9810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EF7F6-2663-40D2-AE6F-E6BA49B8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复现重点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7DA1B-BABF-403F-A1CE-E87BB433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800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官方 CUDA kernel benchmark 编译与运行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N sweep 与 shape sweep 简化复现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日志、CSV、PNG/PDF 图表和报告归档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0FB99-FCBE-4692-B53E-F94D00C7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GitHub: sober-drowse/ZipServ-Reproduction</a:t>
            </a:r>
          </a:p>
        </p:txBody>
      </p:sp>
    </p:spTree>
    <p:extLst>
      <p:ext uri="{BB962C8B-B14F-4D97-AF65-F5344CB8AC3E}">
        <p14:creationId xmlns:p14="http://schemas.microsoft.com/office/powerpoint/2010/main" val="173198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6BD27-5088-4EEC-8EDA-3B98BE1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复现任务先拆成可验证闭环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D110D-3B48-4F55-B9DE-A2B8CCB2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先跑通官方 kernel，再扩展参数和形状扫描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A1BC83-48F9-4066-B143-299CBD77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06CF1-6F65-4355-85B4-5E7CAAF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6D3F8-047B-427A-A99F-99AFE60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DE7CA-AF8D-48E6-BA96-4811685A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0679B-E17D-4B8D-8D85-45E50BA8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512103-DD14-4728-A907-EFD9B034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实验/环境日志文件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E85DF-B666-4517-8D23-8B574CA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0B241F-E7E4-4298-AE27-A4FF06C3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81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18367-B59C-4CC7-B296-826EFF40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 sweep 参数点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380CA-B95C-41F0-931F-0664D3B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31429-6F89-4560-AC4E-54A6063F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F2E91-A967-45A8-B902-E35DF87E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shape sweep 代表形状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A1564-56C4-4255-8865-AA468A92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6F1D5-B87C-4E04-97A1-2B6D5D6D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81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7F5F"/>
                </a:solidFill>
              </a:defRPr>
            </a:pPr>
            <a:r>
              <a:rPr sz="2550" b="1">
                <a:solidFill>
                  <a:srgbClr val="1D7F5F"/>
                </a:solidFill>
              </a:rPr>
              <a:t>1.42x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213E3C-6EE9-417A-A933-AA319C01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当前压缩率输出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91ED4-E61F-411E-8178-E8C9967E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已完成：官方代码适配、编译、最小 test_mm、test_decompress、N sweep、shape sweep。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未完成：外部 baseline、Nsight Compute profiling、vLLM 端到端推理。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汇报口径：当前结果是 kernel-level 简化复现，不直接等同于原文全部结论。</a:t>
            </a:r>
          </a:p>
        </p:txBody>
      </p:sp>
    </p:spTree>
    <p:extLst>
      <p:ext uri="{BB962C8B-B14F-4D97-AF65-F5344CB8AC3E}">
        <p14:creationId xmlns:p14="http://schemas.microsoft.com/office/powerpoint/2010/main" val="8922302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C337B8-CFAB-476F-A196-30AC95BA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ZipServ 的核心是让无损压缩进入计算路径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52FEB-45DF-4C8D-B889-ED38627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不是只省存储，而是减少推理时的显存搬运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5B94C-0B61-4DBF-A18F-754D4CF7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0E7B4-71AC-484F-A01B-17323A23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6C2A9-0857-420A-A388-31E469CA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99EF-2FE8-4AE8-9519-21BDC79F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8E98C-E835-4D51-9F6D-5C1F218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D5224-EC68-4C75-AA66-063B6F4C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0BCAF-C391-4AEE-A927-8E6E115F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Offline Compressor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9C012-621D-4190-BFA9-37FB648B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224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统计 BF16 exponent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TCA-TBE 压缩格式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triple bitmap + fallback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76B011-154D-47B8-BA70-F4735403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Online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088C3-A766-46E2-A198-D6EA1A98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667000"/>
            <a:ext cx="224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Prefill: decoupled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Decode: fused ZipGEMM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stage-aware 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675095-B760-49B1-A71F-93CF2B4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E74B5"/>
                </a:solidFill>
              </a:defRPr>
            </a:pPr>
            <a:r>
              <a:rPr sz="1950" b="1">
                <a:solidFill>
                  <a:srgbClr val="2E74B5"/>
                </a:solidFill>
              </a:rPr>
              <a:t>ZipGEMM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CE515-8E17-4087-B2F9-4956A51B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224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load compressed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register 内即时解压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直接进入 Tensor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CDB2D-ADA9-48FE-9CC5-B3C1EDF2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关键判断：如果解压结果不落回 global memory，无损压缩才可能转化为真实推理加速。</a:t>
            </a:r>
          </a:p>
        </p:txBody>
      </p:sp>
    </p:spTree>
    <p:extLst>
      <p:ext uri="{BB962C8B-B14F-4D97-AF65-F5344CB8AC3E}">
        <p14:creationId xmlns:p14="http://schemas.microsoft.com/office/powerpoint/2010/main" val="18930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A061C5-96CF-43E5-93BD-F0E148F3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实验地图覆盖了阅读、主实验和限制说明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5947E-8948-4784-B235-1AD4205E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本次优先完成官方仓库可运行的 kernel-level 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8A9C2-28B8-4125-B983-B911854E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094480-6B10-4F92-BB98-69BD6EDA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4F490-9CE3-4E14-8EB5-9B2BA847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ADFCC-6CC9-439E-8F13-4CEA89BF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FEABD9-9008-4A80-8EF1-EC7A8DD1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实验类别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B5545-F99C-4415-82EE-AEC3B888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8926B1-1B8D-4BE9-BE9E-D9E053D7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669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论文对应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E38FD-127E-46C9-B2C2-B6585539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221B9-9EA8-4DF8-978A-427E88EF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4B5"/>
                </a:solidFill>
              </a:defRPr>
            </a:pPr>
            <a:r>
              <a:rPr sz="1500" b="1">
                <a:solidFill>
                  <a:srgbClr val="2E74B5"/>
                </a:solidFill>
              </a:rPr>
              <a:t>本次状态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EF618-98B9-4C68-8362-D55AD342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8885F-04D6-4FAA-9CA7-25ED9774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动机实验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C0885-C2AB-4BA3-8705-3316470E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B1640-AA70-49A2-B1A7-6F58359D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19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Fig. 1/3/4/5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FAE62-468E-47B5-9794-C2D2DEBB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669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4B27F-6918-48D0-AC30-C3E7735D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193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阅读梳理 + decompression 支撑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0F5C3-D580-4255-AE11-2463E317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B96BE-79DE-4E6B-8F08-563692FC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主对比实验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3A955-327A-430B-9730-97423DF5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5AE3D-0821-4AE8-A1B3-3B4942A5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718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Fig. 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8BE8B-7758-432C-86A3-332BAE65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194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5451FC-6889-473B-B436-CD687D71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718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shape sweep 简化复现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100B3-2369-4FCE-8B27-A843324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DC857-FF05-49F2-B84C-A64B7C28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参数敏感性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84D948-9BA8-4B49-9BC6-EA6C6877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718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65EEF-C6D7-459E-843F-891CB4E3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Fig. 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18E379-F185-4463-9113-B73510C0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58F1ED-1CD4-4E05-BFB7-5EAFF72C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N sweep 完成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63AC2-3BF6-4AA1-B012-19E39D55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DE9D7-5E90-488B-AF33-3FB4CA74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解压效率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566E1-650B-4909-955B-094AE5DA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243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853D76-5BBF-4511-9333-50BCA59C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767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Fig. 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8CAB51-6F18-4F06-8B7B-CD638D10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243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9CA5D-93D2-427B-AB5C-12307F03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test_decompress 完成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266E00-FB7C-43DA-AA4A-8E2D268E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393E0F-1211-4BCE-AE94-A21E6B6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259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端到端推理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BEA3CE-8816-4F40-BA7E-6009E502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2D35BF-F181-42B8-9D8C-447FCFAC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291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Fig. 16/17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7D4C8A-C4F5-4EC3-A1A9-260B27B5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5331E0-771E-4A92-91AE-57A775F3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29150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受资源限制，未完整复现</a:t>
            </a:r>
          </a:p>
        </p:txBody>
      </p:sp>
    </p:spTree>
    <p:extLst>
      <p:ext uri="{BB962C8B-B14F-4D97-AF65-F5344CB8AC3E}">
        <p14:creationId xmlns:p14="http://schemas.microsoft.com/office/powerpoint/2010/main" val="2023613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4C598-8D52-4BDA-95C6-FCDB2F06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环境搭建的主要工作是把官方代码适配到 L20 + CUDA 12.0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ACEBE-732B-4B93-AE23-DF2EF03C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所有修复都记录为文档和 patch，避免只在终端里留下记忆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8B837-3457-4D37-964C-F99A4143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58782-14AC-4922-BE3D-701D5D2D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175B7-AEF6-4B79-B577-96F0018C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E9F50-580C-43A4-ACED-3CD1B2B9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6212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4866-63FE-4E01-83A4-5DE63F15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L20 x2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D2A99-0599-43D6-A2F7-7686CE10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服务器 GPU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5C5E7-EF88-4641-AD5E-D9C3ADF9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62125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6F2FD-0833-4682-8F24-C21AD3A0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3357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CUDA 12.0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BD35F4-081A-4E64-B5D4-4709EBAE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907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nvcc: /usr/bin/nvcc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926280-1826-4EC2-B074-011F8972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D3A259-F0AF-4DEF-A5D8-E9867200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33575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Python 3.10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FB1CCB-047E-4FB1-B8CE-F6B10521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9077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conda env: zipserv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1AFCA-C43B-4E32-81B9-35093BDD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62125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2942D2-85A5-4069-ABC9-9443A674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33575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gcc 13.3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CB3E6-F45D-4D66-A9CF-AEB02277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90775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make 4.3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C49EE-B70A-4504-A528-DB5E4DC4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HTTPS 克隆失败：改用 GitHub SSH。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CUDA 路径不匹配：编译脚本显式传入 CUDA_INSTALL_PATH=/usr CUDA_HOME=/usr。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BF16 host/device 编译错误：使用 std::memcpy 增加 host 端 bit 转换函数。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0F89E5-7510-4F56-949A-351F260C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95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对应材料：env/environment.md, docs/pitfalls.md, patches/zipserv_cuda12_bf16_host_fix.patch</a:t>
            </a:r>
          </a:p>
        </p:txBody>
      </p:sp>
    </p:spTree>
    <p:extLst>
      <p:ext uri="{BB962C8B-B14F-4D97-AF65-F5344CB8AC3E}">
        <p14:creationId xmlns:p14="http://schemas.microsoft.com/office/powerpoint/2010/main" val="21245900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916294-910C-4B71-A336-2B6FD2B2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最小闭环证明 benchmark 能在当前服务器运行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D4AE4-C9A6-4E8C-A0EA-058B26F5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test_mm 和 test_decompress 分别验证 GEMM 路径和解压正确性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19A43-6C09-49BC-A781-83C4B68B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A3852-D17A-4043-8119-16A5F40A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5A1BD-1A45-4F84-9D35-0F889EA7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04CC5-765A-4D67-AFA7-0C76193C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A6BFD-6815-4501-B6C4-627DC686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213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0.139 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018AC-6973-4A7E-819D-1EEEDFC3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test_mm ZipServ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032E1-21CC-469E-8A46-FF8C89D4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8FEC0-3E78-4C7C-B137-49273C13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74B5"/>
                </a:solidFill>
              </a:defRPr>
            </a:pPr>
            <a:r>
              <a:rPr sz="2550" b="1">
                <a:solidFill>
                  <a:srgbClr val="2E74B5"/>
                </a:solidFill>
              </a:rPr>
              <a:t>30.88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D4A2B-EC5F-4930-B031-9C03B011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ZipServ TFLOPs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31303-FC19-4D34-BD8F-685A9099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D2322-611C-47AD-B43A-1EDB0FE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7F5F"/>
                </a:solidFill>
              </a:defRPr>
            </a:pPr>
            <a:r>
              <a:rPr sz="2550" b="1">
                <a:solidFill>
                  <a:srgbClr val="1D7F5F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E581B-DE4D-48B8-A0F4-773E9AA6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decompression identical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3EEA9-498E-4604-9A55-066B5BA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02223-B515-4260-9121-A8F2006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7F5F"/>
                </a:solidFill>
              </a:defRPr>
            </a:pPr>
            <a:r>
              <a:rPr sz="2550" b="1">
                <a:solidFill>
                  <a:srgbClr val="1D7F5F"/>
                </a:solidFill>
              </a:rPr>
              <a:t>0.0060 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480C3-9E26-4276-9429-9620426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decompression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F4BC1-0811-4D9B-9900-3143C040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test_mm 4096 4096 128 1：BF16_triple_bitmap 能运行并输出性能与误差。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test_decompress 128 128 128：解压矩阵与原矩阵完全一致，满足 lossless 验证。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这些结果是最小工程闭环，不代表论文全部主实验结论。</a:t>
            </a:r>
          </a:p>
        </p:txBody>
      </p:sp>
    </p:spTree>
    <p:extLst>
      <p:ext uri="{BB962C8B-B14F-4D97-AF65-F5344CB8AC3E}">
        <p14:creationId xmlns:p14="http://schemas.microsoft.com/office/powerpoint/2010/main" val="771787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003A57-A0CE-4A1A-943B-323989D1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N sweep 显示当前 L20 上 ZipServ 未超过 cuBLAS TC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F7BEF-99AA-419D-9915-8D94F6F8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但相对 non-TC cuBLAS 仍有明显优势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3ED11-153C-4218-8730-22833139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E3190-F612-40A3-9242-FAE0B306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CC5A32-18F5-47D7-8CD0-61F50EF7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7d23839d04005"/>
          <a:stretch xmlns:a="http://schemas.openxmlformats.org/drawingml/2006/main"/>
        </p:blipFill>
        <p:spPr>
          <a:xfrm xmlns:a="http://schemas.openxmlformats.org/drawingml/2006/main">
            <a:off x="666750" y="1885950"/>
            <a:ext cx="5143500" cy="30861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289e2ea73c4dd3"/>
          <a:stretch xmlns:a="http://schemas.openxmlformats.org/drawingml/2006/main"/>
        </p:blipFill>
        <p:spPr>
          <a:xfrm xmlns:a="http://schemas.openxmlformats.org/drawingml/2006/main">
            <a:off x="6191250" y="1943100"/>
            <a:ext cx="4953000" cy="2971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32BF2-0A8A-4C91-8414-95BAFF1C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固定 M=4096, K=4096, SplitK=1；N 从 1 到 512。Speedup vs cuBLAS TC 均小于 1，说明硬件与形状会显著影响收益。</a:t>
            </a:r>
          </a:p>
        </p:txBody>
      </p:sp>
    </p:spTree>
    <p:extLst>
      <p:ext uri="{BB962C8B-B14F-4D97-AF65-F5344CB8AC3E}">
        <p14:creationId xmlns:p14="http://schemas.microsoft.com/office/powerpoint/2010/main" val="335991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165E2-B3F8-4DFD-AA97-334B1129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Shape sweep 更接近论文 Figure 11 的主对比逻辑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E9095A-1AD1-4F37-93C0-E844EA86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ZipServ 在部分 FFN GateUp 类 shape 上超过 cuBLAS TC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A75F9-4341-47E0-96EB-E2488310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1CB5F-D33A-4FAE-8162-678F70A0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A2FF3-DA24-4895-8A0E-8FC91A6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a3cd556de43fa"/>
          <a:stretch xmlns:a="http://schemas.openxmlformats.org/drawingml/2006/main"/>
        </p:blipFill>
        <p:spPr>
          <a:xfrm xmlns:a="http://schemas.openxmlformats.org/drawingml/2006/main">
            <a:off x="666750" y="2057400"/>
            <a:ext cx="5143500" cy="27432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852f9729a47e0"/>
          <a:stretch xmlns:a="http://schemas.openxmlformats.org/drawingml/2006/main"/>
        </p:blipFill>
        <p:spPr>
          <a:xfrm xmlns:a="http://schemas.openxmlformats.org/drawingml/2006/main">
            <a:off x="6191250" y="2030506"/>
            <a:ext cx="4953000" cy="279698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FF89CF-0F88-4C22-AB68-AB84BFE4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N=32, SplitK=1；llama_ffn_gateup_11008x4096 speedup=1.40，mistral_like_gateup_28672x4096 speedup=1.28。</a:t>
            </a:r>
          </a:p>
        </p:txBody>
      </p:sp>
    </p:spTree>
    <p:extLst>
      <p:ext uri="{BB962C8B-B14F-4D97-AF65-F5344CB8AC3E}">
        <p14:creationId xmlns:p14="http://schemas.microsoft.com/office/powerpoint/2010/main" val="177656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775BC-7425-46B5-988C-0DA45277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误差主要来自硬件、baseline 和系统级覆盖差异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91598-5641-477B-AFEE-92D68E23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当前结论应理解为可追溯的简化复现，而不是完整论文复刻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68CA3-16D5-4BF0-928B-F7B4B965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ADEC8-C5B8-4E58-8453-4CB5528D8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53067-9277-4B29-A963-4B93E64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23257-E197-4B8E-A9F2-EAC25054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F5BA9-532C-4DB4-87B0-D2849E0B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EF366-A53E-4CDF-872A-A3287150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7F5F"/>
                </a:solidFill>
              </a:defRPr>
            </a:pPr>
            <a:r>
              <a:rPr sz="2100" b="1">
                <a:solidFill>
                  <a:srgbClr val="1D7F5F"/>
                </a:solidFill>
              </a:rPr>
              <a:t>已经解决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79F0E-2699-4241-98B9-5219450E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670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官方代码获取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CUDA 路径修复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BF16 编译兼容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日志与图表自动生成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GitHub 与本地备份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731C4-61BB-48D8-B445-D3A171EB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478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1C1C"/>
                </a:solidFill>
              </a:defRPr>
            </a:pPr>
            <a:r>
              <a:rPr sz="2100" b="1">
                <a:solidFill>
                  <a:srgbClr val="9B1C1C"/>
                </a:solidFill>
              </a:rPr>
              <a:t>仍有限制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3074F-A277-4019-A005-91D7DA95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L20 不等同于原文 GPU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未加入 DietGPU/nvCOMP/DFloat11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未做 Nsight Compute profiling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• 未做 vLLM 端到端推理</a:t>
            </a:r>
          </a:p>
        </p:txBody>
      </p:sp>
    </p:spTree>
    <p:extLst>
      <p:ext uri="{BB962C8B-B14F-4D97-AF65-F5344CB8AC3E}">
        <p14:creationId xmlns:p14="http://schemas.microsoft.com/office/powerpoint/2010/main" val="12281583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761EE3-F90A-47EC-ACB6-F3BE416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最终交付已经形成完整复现闭环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D4504-E40F-4668-9DB4-971F5FCB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代码、环境、日志、结果、图表、报告和 PPT 都放入同一仓库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82348-5E9F-4884-85E6-43244C59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5BA05-6329-4993-BB6E-275AA1E4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ZipServ 论文复现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893F-59B9-4504-A1CB-D3B97493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D5C72-1D17-4F16-A45D-80571021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32FB2-9522-4E26-95DC-3335B9C5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8770A-D462-4416-952B-09757577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38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code/ZipServ_ASPLOS26_patched/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73D18-3AA1-4847-9A42-34C012AD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93737-C77F-4655-B498-050B3135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91EC9-7B8E-44ED-BAE5-D26AAC8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383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env/environment.yml, env/environment.md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D3226-3F14-4E4E-8F37-FB91452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ABF6BF-C966-4D24-ADC5-48141AD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脚本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26283A-435E-4094-98D7-005FCD70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14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scripts/setup_zipserv.sh, run_*_sweep.sh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9534B-E84E-4DF9-8C32-6170751C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431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74812-6ACD-4939-AAAE-412F1D31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日志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A6995-988A-4ECB-8524-95FCE77C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logs/build/, logs/experiments/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10461-D26E-43B9-AB67-55D980CD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FB123-7139-4FE9-B1CD-FC458941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673CC5-A57B-453A-8B2C-1439748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909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results/raw/, results/processed/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5688A8-83C3-44BE-86AB-8BD2D1CF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194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C7810-8B6D-4A7C-93C6-ED103EB8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图表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40B5F-D92C-4FDE-8305-97EC10D9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909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figures/reproduced/*.png, *.pdf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51DCB0-2FBF-4DD4-A6A4-81B65655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02BAB3-C88D-4E29-858D-5B340473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A2D4F-9914-419C-89B7-A555F6D1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67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report/reproduction_report.md / .docx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0A62F-599B-49B4-BA66-74F13424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95775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D3539-9298-4303-A3D2-768EDF58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386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B5"/>
                </a:solidFill>
              </a:defRPr>
            </a:pPr>
            <a:r>
              <a:rPr sz="1650" b="1">
                <a:solidFill>
                  <a:srgbClr val="2E74B5"/>
                </a:solidFill>
              </a:rPr>
              <a:t>总结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38C8FB-80A0-4810-8E76-96F4ECDF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report/personal_summary.md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CD6D4-CF5F-4132-8456-500F4404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下一步：补充外部 baseline、Nsight profiling 和 vLLM 端到端实验。</a:t>
            </a:r>
          </a:p>
        </p:txBody>
      </p:sp>
    </p:spTree>
    <p:extLst>
      <p:ext uri="{BB962C8B-B14F-4D97-AF65-F5344CB8AC3E}">
        <p14:creationId xmlns:p14="http://schemas.microsoft.com/office/powerpoint/2010/main" val="18562781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2026-07-14T16:44:10.6490000Z</dcterms:created>
  <dcterms:modified xsi:type="dcterms:W3CDTF">2026-07-14T16:44:10.6490000Z</dcterms:modified>
</coreProperties>
</file>