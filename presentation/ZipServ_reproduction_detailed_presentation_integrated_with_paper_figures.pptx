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229eba1c1e4ecf" /><Relationship Type="http://schemas.openxmlformats.org/officeDocument/2006/relationships/extended-properties" Target="/docProps/app.xml" Id="Ra3e0b4e609f048fc" /><Relationship Type="http://schemas.openxmlformats.org/officeDocument/2006/relationships/officeDocument" Target="/ppt/presentation.xml" Id="Rc528cae96d3743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2a809e6a854e60"/>
  </p:sldMasterIdLst>
  <p:notesMasterIdLst>
    <p:notesMasterId xmlns:r="http://schemas.openxmlformats.org/officeDocument/2006/relationships" r:id="R72fcb0e23fc04725"/>
  </p:notesMasterIdLst>
  <p:sldIdLst>
    <p:sldId xmlns:r="http://schemas.openxmlformats.org/officeDocument/2006/relationships" id="256" r:id="R83680b49482944e3"/>
    <p:sldId xmlns:r="http://schemas.openxmlformats.org/officeDocument/2006/relationships" id="257" r:id="R3aab11cfffc64fd8"/>
    <p:sldId xmlns:r="http://schemas.openxmlformats.org/officeDocument/2006/relationships" id="258" r:id="Rf5c30423ff4a4b9c"/>
    <p:sldId xmlns:r="http://schemas.openxmlformats.org/officeDocument/2006/relationships" id="259" r:id="R9942258f4d584fd5"/>
    <p:sldId xmlns:r="http://schemas.openxmlformats.org/officeDocument/2006/relationships" id="260" r:id="Rea362542bfa14c7c"/>
    <p:sldId xmlns:r="http://schemas.openxmlformats.org/officeDocument/2006/relationships" id="261" r:id="R95a69518be2b4856"/>
    <p:sldId xmlns:r="http://schemas.openxmlformats.org/officeDocument/2006/relationships" id="262" r:id="Re2d33c6a0e744214"/>
    <p:sldId xmlns:r="http://schemas.openxmlformats.org/officeDocument/2006/relationships" id="263" r:id="R584b810b69bd46e6"/>
    <p:sldId xmlns:r="http://schemas.openxmlformats.org/officeDocument/2006/relationships" id="264" r:id="R47c735391cad4eea"/>
    <p:sldId xmlns:r="http://schemas.openxmlformats.org/officeDocument/2006/relationships" id="265" r:id="R042ef2d81e024732"/>
    <p:sldId xmlns:r="http://schemas.openxmlformats.org/officeDocument/2006/relationships" id="266" r:id="R46ea57b3a6fb4592"/>
    <p:sldId xmlns:r="http://schemas.openxmlformats.org/officeDocument/2006/relationships" id="267" r:id="Rc92221e0e08844b5"/>
    <p:sldId xmlns:r="http://schemas.openxmlformats.org/officeDocument/2006/relationships" id="268" r:id="R23e6cddacb63423f"/>
    <p:sldId xmlns:r="http://schemas.openxmlformats.org/officeDocument/2006/relationships" id="269" r:id="R8dbbb4ce48134c19"/>
    <p:sldId xmlns:r="http://schemas.openxmlformats.org/officeDocument/2006/relationships" id="270" r:id="R1e5e18a7fcbf4ae1"/>
    <p:sldId xmlns:r="http://schemas.openxmlformats.org/officeDocument/2006/relationships" id="271" r:id="R5810ffbd8b984596"/>
    <p:sldId xmlns:r="http://schemas.openxmlformats.org/officeDocument/2006/relationships" id="272" r:id="R964f76b9dfac4fdb"/>
    <p:sldId xmlns:r="http://schemas.openxmlformats.org/officeDocument/2006/relationships" id="273" r:id="R94c99e6ecf1a4bff"/>
    <p:sldId xmlns:r="http://schemas.openxmlformats.org/officeDocument/2006/relationships" id="274" r:id="Ra2443833175d41ac"/>
    <p:sldId xmlns:r="http://schemas.openxmlformats.org/officeDocument/2006/relationships" id="275" r:id="Re7a4f7fe1fd44fb7"/>
    <p:sldId xmlns:r="http://schemas.openxmlformats.org/officeDocument/2006/relationships" id="276" r:id="R489cbf62828546b6"/>
    <p:sldId xmlns:r="http://schemas.openxmlformats.org/officeDocument/2006/relationships" id="277" r:id="R272090db41c24222"/>
    <p:sldId xmlns:r="http://schemas.openxmlformats.org/officeDocument/2006/relationships" id="278" r:id="R098076829c1f473b"/>
    <p:sldId xmlns:r="http://schemas.openxmlformats.org/officeDocument/2006/relationships" id="279" r:id="R1f74fe74472449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58a705e0342cc" /><Relationship Type="http://schemas.openxmlformats.org/officeDocument/2006/relationships/slideMaster" Target="/ppt/slideMasters/slideMaster1.xml" Id="R682a809e6a854e60" /><Relationship Type="http://schemas.openxmlformats.org/officeDocument/2006/relationships/notesMaster" Target="/ppt/notesMasters/notesMaster1.xml" Id="R72fcb0e23fc04725" /><Relationship Type="http://schemas.openxmlformats.org/officeDocument/2006/relationships/presProps" Target="/ppt/presProps.xml" Id="R2decacfe92da4c46" /><Relationship Type="http://schemas.openxmlformats.org/officeDocument/2006/relationships/viewProps" Target="/ppt/viewProps.xml" Id="R645e3660eb634910" /><Relationship Type="http://schemas.openxmlformats.org/officeDocument/2006/relationships/tableStyles" Target="/ppt/tableStyles.xml" Id="R87d95a7eaa9d4e5c" /><Relationship Type="http://schemas.openxmlformats.org/officeDocument/2006/relationships/slide" Target="/ppt/slides/slide1.xml" Id="R83680b49482944e3" /><Relationship Type="http://schemas.openxmlformats.org/officeDocument/2006/relationships/slide" Target="/ppt/slides/slide2.xml" Id="R3aab11cfffc64fd8" /><Relationship Type="http://schemas.openxmlformats.org/officeDocument/2006/relationships/slide" Target="/ppt/slides/slide3.xml" Id="Rf5c30423ff4a4b9c" /><Relationship Type="http://schemas.openxmlformats.org/officeDocument/2006/relationships/slide" Target="/ppt/slides/slide4.xml" Id="R9942258f4d584fd5" /><Relationship Type="http://schemas.openxmlformats.org/officeDocument/2006/relationships/slide" Target="/ppt/slides/slide5.xml" Id="Rea362542bfa14c7c" /><Relationship Type="http://schemas.openxmlformats.org/officeDocument/2006/relationships/slide" Target="/ppt/slides/slide6.xml" Id="R95a69518be2b4856" /><Relationship Type="http://schemas.openxmlformats.org/officeDocument/2006/relationships/slide" Target="/ppt/slides/slide7.xml" Id="Re2d33c6a0e744214" /><Relationship Type="http://schemas.openxmlformats.org/officeDocument/2006/relationships/slide" Target="/ppt/slides/slide8.xml" Id="R584b810b69bd46e6" /><Relationship Type="http://schemas.openxmlformats.org/officeDocument/2006/relationships/slide" Target="/ppt/slides/slide9.xml" Id="R47c735391cad4eea" /><Relationship Type="http://schemas.openxmlformats.org/officeDocument/2006/relationships/slide" Target="/ppt/slides/slide10.xml" Id="R042ef2d81e024732" /><Relationship Type="http://schemas.openxmlformats.org/officeDocument/2006/relationships/slide" Target="/ppt/slides/slide11.xml" Id="R46ea57b3a6fb4592" /><Relationship Type="http://schemas.openxmlformats.org/officeDocument/2006/relationships/slide" Target="/ppt/slides/slide12.xml" Id="Rc92221e0e08844b5" /><Relationship Type="http://schemas.openxmlformats.org/officeDocument/2006/relationships/slide" Target="/ppt/slides/slide13.xml" Id="R23e6cddacb63423f" /><Relationship Type="http://schemas.openxmlformats.org/officeDocument/2006/relationships/slide" Target="/ppt/slides/slide14.xml" Id="R8dbbb4ce48134c19" /><Relationship Type="http://schemas.openxmlformats.org/officeDocument/2006/relationships/slide" Target="/ppt/slides/slide15.xml" Id="R1e5e18a7fcbf4ae1" /><Relationship Type="http://schemas.openxmlformats.org/officeDocument/2006/relationships/slide" Target="/ppt/slides/slide16.xml" Id="R5810ffbd8b984596" /><Relationship Type="http://schemas.openxmlformats.org/officeDocument/2006/relationships/slide" Target="/ppt/slides/slide17.xml" Id="R964f76b9dfac4fdb" /><Relationship Type="http://schemas.openxmlformats.org/officeDocument/2006/relationships/slide" Target="/ppt/slides/slide18.xml" Id="R94c99e6ecf1a4bff" /><Relationship Type="http://schemas.openxmlformats.org/officeDocument/2006/relationships/slide" Target="/ppt/slides/slide19.xml" Id="Ra2443833175d41ac" /><Relationship Type="http://schemas.openxmlformats.org/officeDocument/2006/relationships/slide" Target="/ppt/slides/slide20.xml" Id="Re7a4f7fe1fd44fb7" /><Relationship Type="http://schemas.openxmlformats.org/officeDocument/2006/relationships/slide" Target="/ppt/slides/slide21.xml" Id="R489cbf62828546b6" /><Relationship Type="http://schemas.openxmlformats.org/officeDocument/2006/relationships/slide" Target="/ppt/slides/slide22.xml" Id="R272090db41c24222" /><Relationship Type="http://schemas.openxmlformats.org/officeDocument/2006/relationships/slide" Target="/ppt/slides/slide23.xml" Id="R098076829c1f473b" /><Relationship Type="http://schemas.openxmlformats.org/officeDocument/2006/relationships/slide" Target="/ppt/slides/slide24.xml" Id="R1f74fe74472449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0a702f49a541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775560c642448f" /><Relationship Type="http://schemas.openxmlformats.org/officeDocument/2006/relationships/notesMaster" Target="/ppt/notesMasters/notesMaster1.xml" Id="R907ad688808847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8af9d0078648be" /><Relationship Type="http://schemas.openxmlformats.org/officeDocument/2006/relationships/notesMaster" Target="/ppt/notesMasters/notesMaster1.xml" Id="Ref00708ed73c48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e7183d1ee44fdb" /><Relationship Type="http://schemas.openxmlformats.org/officeDocument/2006/relationships/notesMaster" Target="/ppt/notesMasters/notesMaster1.xml" Id="Ra06480bead4845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c2eaf97b1425e" /><Relationship Type="http://schemas.openxmlformats.org/officeDocument/2006/relationships/notesMaster" Target="/ppt/notesMasters/notesMaster1.xml" Id="R07dab909c35744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a1f1c4f21545e0" /><Relationship Type="http://schemas.openxmlformats.org/officeDocument/2006/relationships/notesMaster" Target="/ppt/notesMasters/notesMaster1.xml" Id="Rbb48ac9873dd48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4a64e27b7346bd" /><Relationship Type="http://schemas.openxmlformats.org/officeDocument/2006/relationships/notesMaster" Target="/ppt/notesMasters/notesMaster1.xml" Id="R8a5737ca01a444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0930eb672f4707" /><Relationship Type="http://schemas.openxmlformats.org/officeDocument/2006/relationships/notesMaster" Target="/ppt/notesMasters/notesMaster1.xml" Id="Re04497d0d59c47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83d5095ed54fdf" /><Relationship Type="http://schemas.openxmlformats.org/officeDocument/2006/relationships/notesMaster" Target="/ppt/notesMasters/notesMaster1.xml" Id="Re61a591eb0ae43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b3c2844a354840" /><Relationship Type="http://schemas.openxmlformats.org/officeDocument/2006/relationships/notesMaster" Target="/ppt/notesMasters/notesMaster1.xml" Id="R576a33de849c46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a1e880d01d4fc2" /><Relationship Type="http://schemas.openxmlformats.org/officeDocument/2006/relationships/notesMaster" Target="/ppt/notesMasters/notesMaster1.xml" Id="R999fe3e7fd7545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6f733ccb6a435f" /><Relationship Type="http://schemas.openxmlformats.org/officeDocument/2006/relationships/notesMaster" Target="/ppt/notesMasters/notesMaster1.xml" Id="Rd8d0c502a5764a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a8d9e6ad9545bc" /><Relationship Type="http://schemas.openxmlformats.org/officeDocument/2006/relationships/notesMaster" Target="/ppt/notesMasters/notesMaster1.xml" Id="R7ba252c9a24742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0865ca4b3c4917" /><Relationship Type="http://schemas.openxmlformats.org/officeDocument/2006/relationships/notesMaster" Target="/ppt/notesMasters/notesMaster1.xml" Id="R3b3fd131950740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d252f4718a44a9" /><Relationship Type="http://schemas.openxmlformats.org/officeDocument/2006/relationships/notesMaster" Target="/ppt/notesMasters/notesMaster1.xml" Id="R12f8ef3d9bb941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5e0b8d2d9e4d24" /><Relationship Type="http://schemas.openxmlformats.org/officeDocument/2006/relationships/notesMaster" Target="/ppt/notesMasters/notesMaster1.xml" Id="Re7b2fc2bc3564a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ef725c4b124adc" /><Relationship Type="http://schemas.openxmlformats.org/officeDocument/2006/relationships/notesMaster" Target="/ppt/notesMasters/notesMaster1.xml" Id="Rbc2915108afd40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643c0804dd49cd" /><Relationship Type="http://schemas.openxmlformats.org/officeDocument/2006/relationships/notesMaster" Target="/ppt/notesMasters/notesMaster1.xml" Id="R2dc22163ec6648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9fd69b3aa34c57" /><Relationship Type="http://schemas.openxmlformats.org/officeDocument/2006/relationships/notesMaster" Target="/ppt/notesMasters/notesMaster1.xml" Id="Ra0e89d06678448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42094c23b64b2d" /><Relationship Type="http://schemas.openxmlformats.org/officeDocument/2006/relationships/notesMaster" Target="/ppt/notesMasters/notesMaster1.xml" Id="Re723029953de4b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1f6e9c5c31543a3" /><Relationship Type="http://schemas.openxmlformats.org/officeDocument/2006/relationships/notesMaster" Target="/ppt/notesMasters/notesMaster1.xml" Id="Rc87fd4093f3042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2d6ffa5f5240c1" /><Relationship Type="http://schemas.openxmlformats.org/officeDocument/2006/relationships/notesMaster" Target="/ppt/notesMasters/notesMaster1.xml" Id="R1aca52cbdc3a46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c5847759a44ad6" /><Relationship Type="http://schemas.openxmlformats.org/officeDocument/2006/relationships/notesMaster" Target="/ppt/notesMasters/notesMaster1.xml" Id="R8fe8d274226f43f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79f79e80ad04887" /><Relationship Type="http://schemas.openxmlformats.org/officeDocument/2006/relationships/notesMaster" Target="/ppt/notesMasters/notesMaster1.xml" Id="R65f26341b29647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79f031cf944555" /><Relationship Type="http://schemas.openxmlformats.org/officeDocument/2006/relationships/notesMaster" Target="/ppt/notesMasters/notesMaster1.xml" Id="R6d780111d7284b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d7ef0e02b4d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ad1c2381584889" /><Relationship Type="http://schemas.openxmlformats.org/officeDocument/2006/relationships/slideLayout" Target="/ppt/slideLayouts/slideLayout1.xml" Id="R23a52852cd37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a52852cd37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e3a0607794789" /><Relationship Type="http://schemas.openxmlformats.org/officeDocument/2006/relationships/notesSlide" Target="/ppt/notesSlides/notesSlide1.xml" Id="R5e10605824c24a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6c46583754b6c" /><Relationship Type="http://schemas.openxmlformats.org/officeDocument/2006/relationships/notesSlide" Target="/ppt/notesSlides/notesSlide2.xml" Id="Rbaed4a20c2bb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79e1ed49447e6" /><Relationship Type="http://schemas.openxmlformats.org/officeDocument/2006/relationships/notesSlide" Target="/ppt/notesSlides/notesSlide3.xml" Id="Rdde2cfe1cc3942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dc1f2f2bf443f" /><Relationship Type="http://schemas.openxmlformats.org/officeDocument/2006/relationships/notesSlide" Target="/ppt/notesSlides/notesSlide4.xml" Id="R2484e7517e2347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9fc313b6f4e6c" /><Relationship Type="http://schemas.openxmlformats.org/officeDocument/2006/relationships/notesSlide" Target="/ppt/notesSlides/notesSlide5.xml" Id="R3d9591f750b043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88e8605d64266" /><Relationship Type="http://schemas.openxmlformats.org/officeDocument/2006/relationships/image" Target="/ppt/media/image.png" Id="R7fea4fa9c0524832" /><Relationship Type="http://schemas.openxmlformats.org/officeDocument/2006/relationships/notesSlide" Target="/ppt/notesSlides/notesSlide6.xml" Id="R3c7e25f45b6449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2e75c53ad4fa9" /><Relationship Type="http://schemas.openxmlformats.org/officeDocument/2006/relationships/notesSlide" Target="/ppt/notesSlides/notesSlide7.xml" Id="R9fd141be7f1543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9628361024e70" /><Relationship Type="http://schemas.openxmlformats.org/officeDocument/2006/relationships/image" Target="/ppt/media/image2.png" Id="R7647ac3610674b8b" /><Relationship Type="http://schemas.openxmlformats.org/officeDocument/2006/relationships/notesSlide" Target="/ppt/notesSlides/notesSlide8.xml" Id="Ra6bcc7a81b014d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f30500a6a42a0" /><Relationship Type="http://schemas.openxmlformats.org/officeDocument/2006/relationships/notesSlide" Target="/ppt/notesSlides/notesSlide9.xml" Id="R1908bdbd9abe4f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565919dd449bb" /><Relationship Type="http://schemas.openxmlformats.org/officeDocument/2006/relationships/image" Target="/ppt/media/image3.png" Id="R5855b263c7514350" /><Relationship Type="http://schemas.openxmlformats.org/officeDocument/2006/relationships/notesSlide" Target="/ppt/notesSlides/notesSlide10.xml" Id="Rfd5d6e2a8e1b47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da1671cdb4089" /><Relationship Type="http://schemas.openxmlformats.org/officeDocument/2006/relationships/notesSlide" Target="/ppt/notesSlides/notesSlide11.xml" Id="R8ab15f5d17174f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3d40fdef3452b" /><Relationship Type="http://schemas.openxmlformats.org/officeDocument/2006/relationships/image" Target="/ppt/media/image4.png" Id="R23f3aba2a2184610" /><Relationship Type="http://schemas.openxmlformats.org/officeDocument/2006/relationships/notesSlide" Target="/ppt/notesSlides/notesSlide12.xml" Id="R91ff897d639046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610ae8f474b9a" /><Relationship Type="http://schemas.openxmlformats.org/officeDocument/2006/relationships/notesSlide" Target="/ppt/notesSlides/notesSlide13.xml" Id="R8c1fbe9ca18d4a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5438e721c49e6" /><Relationship Type="http://schemas.openxmlformats.org/officeDocument/2006/relationships/image" Target="/ppt/media/image5.png" Id="R9dce19cd23d445cb" /><Relationship Type="http://schemas.openxmlformats.org/officeDocument/2006/relationships/notesSlide" Target="/ppt/notesSlides/notesSlide14.xml" Id="Rdbffdff9175b42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187c1b0ef44da" /><Relationship Type="http://schemas.openxmlformats.org/officeDocument/2006/relationships/notesSlide" Target="/ppt/notesSlides/notesSlide15.xml" Id="R34ed7ecf39074e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67fa400554275" /><Relationship Type="http://schemas.openxmlformats.org/officeDocument/2006/relationships/notesSlide" Target="/ppt/notesSlides/notesSlide16.xml" Id="R7a8c8b0e7d7c46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320f249f4082" /><Relationship Type="http://schemas.openxmlformats.org/officeDocument/2006/relationships/notesSlide" Target="/ppt/notesSlides/notesSlide17.xml" Id="R60ae8e671bd943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e2274707c48c9" /><Relationship Type="http://schemas.openxmlformats.org/officeDocument/2006/relationships/image" Target="/ppt/media/image6.png" Id="Rc5da71e5c07746f7" /><Relationship Type="http://schemas.openxmlformats.org/officeDocument/2006/relationships/image" Target="/ppt/media/image7.png" Id="R1b81f18b1b144b09" /><Relationship Type="http://schemas.openxmlformats.org/officeDocument/2006/relationships/notesSlide" Target="/ppt/notesSlides/notesSlide18.xml" Id="Rda8e21e7b00844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93bbe88db4f7a" /><Relationship Type="http://schemas.openxmlformats.org/officeDocument/2006/relationships/image" Target="/ppt/media/image8.png" Id="R121dff0b317b4e7e" /><Relationship Type="http://schemas.openxmlformats.org/officeDocument/2006/relationships/image" Target="/ppt/media/image9.png" Id="Rdcfe21cf6f154423" /><Relationship Type="http://schemas.openxmlformats.org/officeDocument/2006/relationships/notesSlide" Target="/ppt/notesSlides/notesSlide19.xml" Id="R435d23f4793c44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e38ae823e46fd" /><Relationship Type="http://schemas.openxmlformats.org/officeDocument/2006/relationships/notesSlide" Target="/ppt/notesSlides/notesSlide20.xml" Id="Rc2715b66cf264f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1eff98334e39" /><Relationship Type="http://schemas.openxmlformats.org/officeDocument/2006/relationships/notesSlide" Target="/ppt/notesSlides/notesSlide21.xml" Id="Rd9b263538a8049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6dc383d2541e5" /><Relationship Type="http://schemas.openxmlformats.org/officeDocument/2006/relationships/notesSlide" Target="/ppt/notesSlides/notesSlide22.xml" Id="Rd14ffd1375754d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c79d0754f4cb9" /><Relationship Type="http://schemas.openxmlformats.org/officeDocument/2006/relationships/notesSlide" Target="/ppt/notesSlides/notesSlide23.xml" Id="Rb9bdd2fd63dc45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8210b84fc4ce3" /><Relationship Type="http://schemas.openxmlformats.org/officeDocument/2006/relationships/notesSlide" Target="/ppt/notesSlides/notesSlide24.xml" Id="R85788063ef7d49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1D76B21-ACFD-42B0-9031-60D0EB9E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ZipServ 论文复现与结果分析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E4CCFBC-CB0E-4335-AB5C-5B5FFE9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45B64"/>
                </a:solidFill>
              </a:defRPr>
            </a:pPr>
            <a:r>
              <a:rPr sz="1425" b="0">
                <a:solidFill>
                  <a:srgbClr val="545B64"/>
                </a:solidFill>
              </a:rPr>
              <a:t>Fast and Memory-Efficient LLM Inference with Hardware-Aware Lossless Compression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666DD5F-DD88-4D2D-912E-B5013308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9810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EBA1D78-813D-4AC1-9442-152F099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汇报</a:t>
            </a:r>
            <a:r>
              <a:rPr sz="2100" b="1">
                <a:solidFill>
                  <a:srgbClr val="2457A6"/>
                </a:solidFill>
              </a:rPr>
              <a:t>目录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4E31B2F-ECB1-495D-AFD5-1FB9E97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</a:t>
            </a:r>
            <a:r>
              <a:rPr sz="1650" b="0">
                <a:solidFill>
                  <a:srgbClr val="111111"/>
                </a:solidFill>
              </a:rPr>
              <a:t>分析</a:t>
            </a:r>
            <a:r>
              <a:rPr sz="1650" b="0">
                <a:solidFill>
                  <a:srgbClr val="111111"/>
                </a:solidFill>
              </a:rPr>
              <a:t>原论文为什么做</a:t>
            </a:r>
            <a:r>
              <a:rPr sz="1650" b="0">
                <a:solidFill>
                  <a:srgbClr val="111111"/>
                </a:solidFill>
              </a:rPr>
              <a:t> </a:t>
            </a:r>
            <a:r>
              <a:rPr sz="1650" b="0">
                <a:solidFill>
                  <a:srgbClr val="111111"/>
                </a:solidFill>
              </a:rPr>
              <a:t>ZipServ、怎么做、效果是什么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</a:t>
            </a:r>
            <a:r>
              <a:rPr sz="1650" b="0">
                <a:solidFill>
                  <a:srgbClr val="111111"/>
                </a:solidFill>
              </a:rPr>
              <a:t>说明</a:t>
            </a:r>
            <a:r>
              <a:rPr sz="1650" b="0">
                <a:solidFill>
                  <a:srgbClr val="111111"/>
                </a:solidFill>
              </a:rPr>
              <a:t> L20 </a:t>
            </a:r>
            <a:r>
              <a:rPr sz="1650" b="0">
                <a:solidFill>
                  <a:srgbClr val="111111"/>
                </a:solidFill>
              </a:rPr>
              <a:t>服务器上复现了哪些实验、得到什么结果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</a:t>
            </a:r>
            <a:r>
              <a:rPr sz="1650" b="0">
                <a:solidFill>
                  <a:srgbClr val="111111"/>
                </a:solidFill>
              </a:rPr>
              <a:t>分析为什么复现结果不能直接等同于原论文全部结论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1881F9B-DD30-4C79-8A1A-A6F3D16F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软工</a:t>
            </a:r>
            <a:r>
              <a:rPr sz="1350" b="0">
                <a:solidFill>
                  <a:srgbClr val="545B64"/>
                </a:solidFill>
              </a:rPr>
              <a:t>23</a:t>
            </a:r>
            <a:r>
              <a:rPr sz="1350" b="0">
                <a:solidFill>
                  <a:srgbClr val="545B64"/>
                </a:solidFill>
              </a:rPr>
              <a:t>庄子鲲助研汇报</a:t>
            </a:r>
          </a:p>
        </p:txBody>
      </p:sp>
    </p:spTree>
    <p:extLst>
      <p:ext uri="{BB962C8B-B14F-4D97-AF65-F5344CB8AC3E}">
        <p14:creationId xmlns:p14="http://schemas.microsoft.com/office/powerpoint/2010/main" val="44848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0945767-AA7E-4491-A77D-19AE390F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总览：论文解决的是推理显存和带宽问题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8847A39-637B-4E77-A794-1C6A1BC4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大模型越来越大，瓶颈不只是算得快，也包括权重读得快、放得下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CC2DF4D-AEC8-4989-8B78-0CE19F79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BBA48B1-850B-416F-AF58-96CD5E80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D672C67-EC2B-41DC-BFA5-E2035DC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FBC7847-7EB8-4F1D-8C0F-93D655FD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9219E4-0BBD-47A6-9716-B1E08978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LLM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42717CE-577E-4A36-BCB1-A822AEF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9077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Large Language Model，大语言模型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F783F12-9652-436B-AD2F-F39BC75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2762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E651E97-C948-4EDB-B0AF-DF77FE61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Inference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CA10CB-EB8A-4FB0-B157-C726411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907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模型已经训练好，开始生成答案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763E4F2-C303-4B5F-B7DF-12ED45B2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C71D23C-24DA-4307-A9C7-6FDB00F4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GEMM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FBA3D3C-CB3C-4D0D-93C4-ACDA13A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9077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矩阵乘法，是线性层核心计算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0FBD733-5DC6-4DBA-8244-A846A47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6ACA722-14DE-4E61-A7A1-2E3B17BF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A6400"/>
                </a:solidFill>
              </a:defRPr>
            </a:pPr>
            <a:r>
              <a:rPr sz="2400" b="1">
                <a:solidFill>
                  <a:srgbClr val="8A6400"/>
                </a:solidFill>
              </a:rPr>
              <a:t>Memory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C00FFCD-E71B-4F31-A612-9715FD30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907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权重读写会卡住速度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6C757C3-D1A3-4F61-AEBC-62D1EE3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981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</a:t>
            </a:r>
            <a:r>
              <a:rPr sz="1800" b="0">
                <a:solidFill>
                  <a:srgbClr val="111111"/>
                </a:solidFill>
              </a:rPr>
              <a:t>大模型推理时，很多时间花在读取巨大的权重矩阵</a:t>
            </a:r>
            <a:r>
              <a:rPr sz="1800" b="0">
                <a:solidFill>
                  <a:srgbClr val="111111"/>
                </a:solidFill>
              </a:rPr>
              <a:t>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</a:t>
            </a:r>
            <a:r>
              <a:rPr sz="1800" b="0">
                <a:solidFill>
                  <a:srgbClr val="111111"/>
                </a:solidFill>
              </a:rPr>
              <a:t>如果权重能无损压缩，就能省显存；但如果解压太慢，反而会拖慢推理</a:t>
            </a:r>
            <a:r>
              <a:rPr sz="1800" b="0">
                <a:solidFill>
                  <a:srgbClr val="111111"/>
                </a:solidFill>
              </a:rPr>
              <a:t>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</a:t>
            </a:r>
            <a:r>
              <a:rPr sz="1800" b="0">
                <a:solidFill>
                  <a:srgbClr val="111111"/>
                </a:solidFill>
              </a:rPr>
              <a:t>ZipServ</a:t>
            </a:r>
            <a:r>
              <a:rPr sz="1800" b="0">
                <a:solidFill>
                  <a:srgbClr val="111111"/>
                </a:solidFill>
              </a:rPr>
              <a:t> </a:t>
            </a:r>
            <a:r>
              <a:rPr sz="1800" b="0">
                <a:solidFill>
                  <a:srgbClr val="111111"/>
                </a:solidFill>
              </a:rPr>
              <a:t>的目标：无损压缩既省空间，又能在</a:t>
            </a:r>
            <a:r>
              <a:rPr sz="1800" b="0">
                <a:solidFill>
                  <a:srgbClr val="111111"/>
                </a:solidFill>
              </a:rPr>
              <a:t> GPU </a:t>
            </a:r>
            <a:r>
              <a:rPr sz="1800" b="0">
                <a:solidFill>
                  <a:srgbClr val="111111"/>
                </a:solidFill>
              </a:rPr>
              <a:t>上加速</a:t>
            </a:r>
            <a:r>
              <a:rPr sz="1800" b="0">
                <a:solidFill>
                  <a:srgbClr val="11111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30921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2B17AEE-02F3-4AF1-8A21-604B2DA2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11111"/>
                </a:solidFill>
              </a:defRPr>
            </a:pPr>
            <a:r>
              <a:rPr sz="2800"/>
              <a:t>ZipServ</a:t>
            </a:r>
            <a:r>
              <a:rPr sz="2800"/>
              <a:t> 为什么不是普通压缩算法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F6A0EB-821F-4B59-A231-8F4F80DB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这些概念决定了</a:t>
            </a:r>
            <a:r>
              <a:rPr sz="1350" b="0">
                <a:solidFill>
                  <a:srgbClr val="545B64"/>
                </a:solidFill>
              </a:rPr>
              <a:t> </a:t>
            </a:r>
            <a:r>
              <a:rPr sz="1350" b="0">
                <a:solidFill>
                  <a:srgbClr val="545B64"/>
                </a:solidFill>
              </a:rPr>
              <a:t>ZipServ</a:t>
            </a:r>
            <a:r>
              <a:rPr sz="1350" b="0">
                <a:solidFill>
                  <a:srgbClr val="545B64"/>
                </a:solidFill>
              </a:rPr>
              <a:t> </a:t>
            </a:r>
            <a:r>
              <a:rPr sz="1350" b="0">
                <a:solidFill>
                  <a:srgbClr val="545B64"/>
                </a:solidFill>
              </a:rPr>
              <a:t>为什么不是普通压缩算法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A043E71-F959-49A0-B8D3-663A38EA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E06116-B030-447C-961E-1478EC8B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1673B36-80E4-416A-A357-30727D6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3ED30A2-904B-4B0F-AC39-093B2C29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9578290-10E4-40BB-8AB6-5E25C3C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Token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6370E9E-FF88-47F6-B01A-7D877D08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模型处理和生成文本的基本单位。实验里的 N 可以近似理解为一次矩阵乘法中的 token/batch 维度。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E080BF2-F768-4E57-B128-A524E441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145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6669275-E37A-449D-9B49-1AD574CB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8595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BF16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FE44AA9-B041-4C7A-8D09-8C98D881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一种 16 位浮点格式，包含 sign、exponent、mantissa。ZipServ 主要利用 exponent 分布集中这一冗余。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6C08CA0-DCAF-44F3-AA27-D14B7DAB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1AFA7D3-1BF5-489C-8597-6F887856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Tensor Core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1261D67-1748-4E48-9265-B2872073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NVIDIA GPU 中专门加速矩阵乘法的硬件单元。ZipGEMM 要让解压结果直接进入这条计算路径。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66645E-4D5C-4A55-B092-E5E46D39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6712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FCDA905-2910-4F55-BEC1-7357EF71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385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SIMT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C354BDC-8DCC-4C5C-8A12-50BC18A6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57675"/>
            <a:ext cx="4610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GPU 一个 warp 内多线程执行同一指令。变长编码会造成分支和串行依赖，固定 bitmap 更适合并行。</a:t>
            </a:r>
          </a:p>
        </p:txBody>
      </p:sp>
    </p:spTree>
    <p:extLst>
      <p:ext uri="{BB962C8B-B14F-4D97-AF65-F5344CB8AC3E}">
        <p14:creationId xmlns:p14="http://schemas.microsoft.com/office/powerpoint/2010/main" val="1582887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184FC3-A83F-4181-9E1E-D170E9A4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LLM 推理分成 prefill 和 decode，两阶段瓶颈不同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22762B4-482B-46A9-BAEF-09F58916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ZipServ 的 stage-aware 策略就是围绕这一区别设计的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BF168C5-D0EF-4825-9BFC-3CF54D00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9FA848F-96F8-4B69-B3E1-B7B08A8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C591848-EE13-465A-A589-D97353F5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15ECDCE-315F-4F54-A2D7-A0E1558B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1781559-1F15-435E-8B3D-369406E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0BAFDFA-2300-4B0E-8ABD-16B306B6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Prefill 阶段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D156B2-9134-47E4-9DC9-01FBF6D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处理输入 prompt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一次并行处理很多 token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计算密度高，更偏 compute-bound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适合 decoupled 解压 + 高吞吐 GEMM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EA4A23A-A370-4DD7-BEAF-9730D537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Decode 阶段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B852250-A3E2-4BE8-89CE-AA1BDAB3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逐 token 生成输出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每步矩阵较小，读取权重更频繁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更容易 memory-bound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适合 fused ZipGEMM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7321FB-B9AF-42BB-B2CD-822C6FF0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45B64"/>
                </a:solidFill>
              </a:defRPr>
            </a:pPr>
            <a:r>
              <a:rPr sz="1425" b="0">
                <a:solidFill>
                  <a:srgbClr val="545B64"/>
                </a:solidFill>
              </a:rPr>
              <a:t>这里的 compute-bound 指算力更紧张；memory-bound 指显存带宽更紧张。ZipServ 主要想解决后者。</a:t>
            </a:r>
          </a:p>
        </p:txBody>
      </p:sp>
    </p:spTree>
    <p:extLst>
      <p:ext uri="{BB962C8B-B14F-4D97-AF65-F5344CB8AC3E}">
        <p14:creationId xmlns:p14="http://schemas.microsoft.com/office/powerpoint/2010/main" val="782102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81B0F5D-FD68-4D75-A4F1-E4F0F3F0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原论文的动机：传统无损压缩和 GPU 推理不匹配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70DD6B-8E9A-4BA2-838F-5F93411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压缩格式如果适合存储但不适合 GPU 解码，就很难加速推理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D6502CC-0440-452E-876C-F42DF0B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91779FA-59B3-4C95-A204-EBA860B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F199E6-A5CC-41DC-B38E-4D654D1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A3BE89A-2825-4403-A0A9-D10DFDFC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8A27E64-621B-4CCD-A70E-C1C7A6FD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BB55CBD-CC06-481A-BD3C-17206882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67874BA-3CE1-41A3-BE66-D0D699F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9B1C1C"/>
                </a:solidFill>
              </a:defRPr>
            </a:pPr>
            <a:r>
              <a:rPr sz="1875" b="1">
                <a:solidFill>
                  <a:srgbClr val="9B1C1C"/>
                </a:solidFill>
              </a:rPr>
              <a:t>变量长编码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ACE6A55-B41B-4F0C-9BAA-64803B4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1462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Huffman/ANS 符号长度不同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线程无法完全独立推进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warp 内分支和串行依赖增加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D5CB8DF-9D61-4AE4-94FA-54813F4A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9B1C1C"/>
                </a:solidFill>
              </a:defRPr>
            </a:pPr>
            <a:r>
              <a:rPr sz="1875" b="1">
                <a:solidFill>
                  <a:srgbClr val="9B1C1C"/>
                </a:solidFill>
              </a:rPr>
              <a:t>解压和 GEMM 分离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72D6F6-817C-4EC7-B78C-F20C4454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14625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先解压到 global memory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再由 GEMM 读取完整权重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额外 memory traffic 抵消收益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773D8E6-FC39-4F9C-891A-235203A6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14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7A6"/>
                </a:solidFill>
              </a:defRPr>
            </a:pPr>
            <a:r>
              <a:rPr sz="1875" b="1">
                <a:solidFill>
                  <a:srgbClr val="2457A6"/>
                </a:solidFill>
              </a:rPr>
              <a:t>原文观察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8D150C5-4C47-48E3-A84D-EC30929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14625"/>
            <a:ext cx="2333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decoupled 解压耗时可达核心计算的 1.56-3.44x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不是无损压缩没用，而是实现方式不适合 GPU</a:t>
            </a:r>
          </a:p>
        </p:txBody>
      </p:sp>
    </p:spTree>
    <p:extLst>
      <p:ext uri="{BB962C8B-B14F-4D97-AF65-F5344CB8AC3E}">
        <p14:creationId xmlns:p14="http://schemas.microsoft.com/office/powerpoint/2010/main" val="1102774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1B801-FC44-44D3-8667-0EDC2DAD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原论文 Figure 1：传统无损压缩与 GPU 推理不匹配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897E-2B90-4F72-8EB7-328819E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对应原 PPT “论文动机”：传统 decoupled pipeline 的解压开销会抵消压缩带来的显存节省。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a4fa9c0524832"/>
          <a:stretch xmlns:a="http://schemas.openxmlformats.org/drawingml/2006/main"/>
        </p:blipFill>
        <p:spPr>
          <a:xfrm xmlns:a="http://schemas.openxmlformats.org/drawingml/2006/main">
            <a:off x="1943695" y="1200150"/>
            <a:ext cx="8304609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4EC97-46B6-44CF-A982-627BE6EE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629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汇报要点：这张图说明 ZipServ 要解决的不是“能不能压缩”，而是“压缩后能不能真的加速推理”。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EE549-3057-467C-878B-3D5CFE12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</p:spTree>
    <p:extLst>
      <p:ext uri="{BB962C8B-B14F-4D97-AF65-F5344CB8AC3E}">
        <p14:creationId xmlns:p14="http://schemas.microsoft.com/office/powerpoint/2010/main" val="1623687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4E3918A-5605-414C-B098-FE5DDAA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ZipServ 的核心答案：TCA-TBE + ZipGEMM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B6CBAF9-7FD1-4186-BAB6-40D01B80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把压缩格式和 GPU 执行模型一起设计，而不是先压缩再硬接入推理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6BC8483-7E2C-4016-908F-4BEC041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C7CEF5F-7AD5-4E94-B24A-8FE1BEFB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1DB8A47-E1A3-47AA-85E6-98F70D8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0D949AF-CEEC-417D-9BD3-84E9A8BD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D450A09-45F9-4985-AB40-68113EA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90E3B96-14F9-46FC-8045-7D6B6816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4A4B2F0-0A77-41C0-A376-24A0E105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TCA-TBE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FC6E7C6-D561-41B8-A883-2DE9E88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固定长度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triple bitmap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常数时间并行解码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7E35ECB-98F0-4DF2-A137-384CB6A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ZipGEMM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8F603C0-7A51-4606-BE88-86CDF206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边读压缩权重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边在寄存器中恢复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直接进入 Tensor Core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EB4A0C2-5C9A-4173-B887-3A8BE8BB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457A6"/>
                </a:solidFill>
              </a:defRPr>
            </a:pPr>
            <a:r>
              <a:rPr sz="2250" b="1">
                <a:solidFill>
                  <a:srgbClr val="2457A6"/>
                </a:solidFill>
              </a:rPr>
              <a:t>Stage-aware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1744C0-6516-4030-8EFB-94B2B94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prefill 用 decoupled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decode 用 fused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按阶段选择最合适路径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7E9067C-3712-49F9-A699-0ECDD49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958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D7F5F"/>
                </a:solidFill>
              </a:defRPr>
            </a:pPr>
            <a:r>
              <a:rPr sz="2250" b="1">
                <a:solidFill>
                  <a:srgbClr val="1D7F5F"/>
                </a:solidFill>
              </a:rPr>
              <a:t>load-compressed, compute-decompressed</a:t>
            </a:r>
            <a:r>
              <a:rPr sz="2250" b="1">
                <a:solidFill>
                  <a:srgbClr val="1D7F5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94215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773B3-1C44-465F-98EC-D491AF75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原论文 Figure 6：ZipServ 系统总览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89B41-61BB-4A18-AD20-ED6F7BBE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对应原 PPT “TCA-TBE + ZipGEMM”：离线压缩权重，在线推理阶段用 fused kernel 直接处理压缩格式。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7ac3610674b8b"/>
          <a:stretch xmlns:a="http://schemas.openxmlformats.org/drawingml/2006/main"/>
        </p:blipFill>
        <p:spPr>
          <a:xfrm xmlns:a="http://schemas.openxmlformats.org/drawingml/2006/main">
            <a:off x="781050" y="1780613"/>
            <a:ext cx="10629900" cy="312532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774F4-7F09-44E4-9590-70DDC431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629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汇报要点：左边是 offline compressor，右边是 online inference engine；ZipServ 的核心口号可以概括为 load-compressed, compute-decompressed。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8F6A1-0A83-4735-85D3-13BBB4B0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</p:spTree>
    <p:extLst>
      <p:ext uri="{BB962C8B-B14F-4D97-AF65-F5344CB8AC3E}">
        <p14:creationId xmlns:p14="http://schemas.microsoft.com/office/powerpoint/2010/main" val="818482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72534FE-3FDB-483A-9626-54B77BF0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TCA-TBE 利用的是 BF16 exponent 的统计冗余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A7E62C5-BBBE-4CE5-96CF-E7A582E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论文发现 LLM 权重的 exponent 不是均匀分布，而是集中在少数值附近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460549C-EA38-4BA0-9D13-04985EF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9253B6-4976-47D6-BC85-500FCEF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9E0A9FC-CF7D-4234-914F-F15B2DFA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FD4E1F2-827D-4BD0-B037-F2D4046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F73F3AE-6DAC-43FB-95F0-364DC21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2.57-2.74 bits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B515E4C-4EDA-4968-8429-701E4C7D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论文报告的 exponent 信息熵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57BD4A0-A953-4E31-AC7B-4A2DF580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20647E7-2C3B-4899-919E-5BE493F8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14525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1.51x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E4B081A-36AD-4FB1-88A4-4FF3541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理论 BF16 无损压缩率估计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0A1CE8B-E928-4140-92DF-2D514C4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62125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D21CA0-E62E-4110-A1E6-D1E91C8E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145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8 x 8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8CA3219-2DEE-4B20-921E-EBF9FE8E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43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TCA-TBE tile 粒度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D757DF6-D5DF-4785-8000-56694F52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62125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FAF3C98-3358-4756-992B-F0B7253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145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3 bit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9A5B6F4-CB60-4185-BE02-74EBF69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base exponent + offset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3F0EAF1-9300-4151-8C26-76EA421F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BF16 有 1 位 sign、8 位 exponent、7 位 mantissa。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如果大多数 exponent 只落在少数连续值附近，就可以用 base + offset 表示。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triple bitmap 把 3-bit code 拆成三张 64-bit bitmap，更适合 GPU 对齐访问和并行解码。</a:t>
            </a:r>
          </a:p>
        </p:txBody>
      </p:sp>
    </p:spTree>
    <p:extLst>
      <p:ext uri="{BB962C8B-B14F-4D97-AF65-F5344CB8AC3E}">
        <p14:creationId xmlns:p14="http://schemas.microsoft.com/office/powerpoint/2010/main" val="1208279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7DE69-9C9D-4A91-A929-F7B6BBD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原论文 Figure 7：Tensor-Core-Aware Triple Bitmap Encoding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8DCFC-C94F-47F2-BA35-067FC20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对应原 PPT “TCA-TBE 利用 BF16 exponent 的统计冗余”：把 3-bit exponent offset 拆成三张 bitmap。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5b263c7514350"/>
          <a:stretch xmlns:a="http://schemas.openxmlformats.org/drawingml/2006/main"/>
        </p:blipFill>
        <p:spPr>
          <a:xfrm xmlns:a="http://schemas.openxmlformats.org/drawingml/2006/main">
            <a:off x="2906104" y="1200150"/>
            <a:ext cx="6379791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94D0C-7EED-4C19-ADFB-64A52D7B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629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汇报要点：triple bitmap 的价值不是单纯压得更小，而是让 GPU 线程用规整、固定长度、少分支的方式恢复 exponent，更符合 SIMT 和 Tensor Core 数据布局。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46189-67D6-4F37-911C-92EC0D5D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</p:spTree>
    <p:extLst>
      <p:ext uri="{BB962C8B-B14F-4D97-AF65-F5344CB8AC3E}">
        <p14:creationId xmlns:p14="http://schemas.microsoft.com/office/powerpoint/2010/main" val="12437357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CB7505B-9C80-4E0F-9A17-A7C6FE3D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ZipGEMM 把解压隐藏在矩阵乘法路径里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3F03755-33F4-4ED8-8CD2-CE3942C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目标是减少 global memory 中间结果，而不是单独追求解压速度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9911546-58C2-462B-842C-D536B060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18ED1C9-DCEC-4C76-A64E-F9513E78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4B8E444-E8C9-4265-B37F-FE1DA3A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A23D51B-DBF5-4BD3-8A1A-720B931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8486F9-2D6D-47EF-9950-740EEE59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3B80E50-E7A0-4D6B-AA44-423EB04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传统 decoupled pipeline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5D5571-BB39-48D0-B0F9-B332C81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读压缩权重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先解压出完整权重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写回 global memory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GEMM 再读一次权重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797DF5C-6B17-4699-A60F-D3731F3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ZipGEMM fused pipeline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8C036DC-A242-43CA-8476-3A40D82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842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</a:t>
            </a:r>
            <a:r>
              <a:rPr sz="1575" b="0">
                <a:solidFill>
                  <a:srgbClr val="111111"/>
                </a:solidFill>
              </a:rPr>
              <a:t>读压缩权重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shared/register </a:t>
            </a:r>
            <a:r>
              <a:rPr sz="1575" b="0">
                <a:solidFill>
                  <a:srgbClr val="111111"/>
                </a:solidFill>
              </a:rPr>
              <a:t>中解压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</a:t>
            </a:r>
            <a:r>
              <a:rPr sz="1575" b="0">
                <a:solidFill>
                  <a:srgbClr val="111111"/>
                </a:solidFill>
              </a:rPr>
              <a:t>直接送入</a:t>
            </a:r>
            <a:r>
              <a:rPr sz="1575" b="0">
                <a:solidFill>
                  <a:srgbClr val="111111"/>
                </a:solidFill>
              </a:rPr>
              <a:t> Tensor Core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</a:t>
            </a:r>
            <a:r>
              <a:rPr sz="1575" b="0">
                <a:solidFill>
                  <a:srgbClr val="111111"/>
                </a:solidFill>
              </a:rPr>
              <a:t>减少显存流量，提高</a:t>
            </a:r>
            <a:r>
              <a:rPr sz="1575" b="0">
                <a:solidFill>
                  <a:srgbClr val="111111"/>
                </a:solidFill>
              </a:rPr>
              <a:t> compute intensity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D8E4A68-AB71-404B-ADB9-F8917C76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4"/>
                </a:solidFill>
              </a:defRPr>
            </a:pPr>
            <a:r>
              <a:rPr sz="1500" b="0">
                <a:solidFill>
                  <a:srgbClr val="545B64"/>
                </a:solidFill>
              </a:rPr>
              <a:t>直观理解：ZipGEMM 不把解压后的完整权重“放回仓库”，而是在送上计算单元前就地恢复。</a:t>
            </a:r>
          </a:p>
        </p:txBody>
      </p:sp>
    </p:spTree>
    <p:extLst>
      <p:ext uri="{BB962C8B-B14F-4D97-AF65-F5344CB8AC3E}">
        <p14:creationId xmlns:p14="http://schemas.microsoft.com/office/powerpoint/2010/main" val="1693098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EE43-CD9D-41EC-8AD6-BFF5B10A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原论文 Figure 8：ZipGEMM 数据流与指令路径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E5794-D291-4F3B-AAE0-B17F71A9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对应原 PPT “ZipGEMM 把解压隐藏在矩阵乘法路径里”：压缩权重从 global memory 进入 shared/register，再送入 Tensor Core。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3aba2a2184610"/>
          <a:stretch xmlns:a="http://schemas.openxmlformats.org/drawingml/2006/main"/>
        </p:blipFill>
        <p:spPr>
          <a:xfrm xmlns:a="http://schemas.openxmlformats.org/drawingml/2006/main">
            <a:off x="2663031" y="1200150"/>
            <a:ext cx="6865938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1B9A3-0843-415D-B6D4-78A39ECC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629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汇报要点：传统流程是“先解压、再 GEMM”；ZipGEMM 是“边读压缩权重、边恢复、边计算”，减少中间显存读写。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3E4B2-A224-4291-970C-0C8B44B0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</p:spTree>
    <p:extLst>
      <p:ext uri="{BB962C8B-B14F-4D97-AF65-F5344CB8AC3E}">
        <p14:creationId xmlns:p14="http://schemas.microsoft.com/office/powerpoint/2010/main" val="1638869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F6B38BD-732B-48A6-A81D-52096020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原论文宣称的主要成果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268B53-1B7A-486A-BC79-42C1958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这些是 PPT 里需要先讲清楚的 paper result，不是本次复现结果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56A0809-BDDD-46F2-83D5-508E7A12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50FFE4A-DDA7-414C-AF60-D9E33F3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34DA01E-A448-4B81-BFE3-F539636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D20137D-4288-48C5-9581-A2DEB14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41AA48-56D6-4011-8395-721E482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30%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6F2D073-D625-42FF-BE9F-6FB010E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model size reduction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276E1B-04B5-46D1-9DA6-9118DA93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2571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B030CDF-8031-498D-B43E-613BED22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14525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2.21x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DFC0754-385B-4335-BF07-8AC3BD0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kernel speedup over cuBLAS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F8F43D1-2B13-48DE-ACD6-87FE9DF1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A332C0F-D251-45C3-9D34-8570A0E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up to 5.53x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7BE79E8-5351-4868-BEDC-77AE39F6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speedup over DFloat11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5BC20EA-0473-4046-9300-532D7E4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62125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84DA67-61CC-438D-8BA8-8D00DCC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avg 1.22x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C94B9A3-C550-476C-A11C-F2348C8F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4315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end-to-end speedup over vLLM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50966BB-C976-4FFF-86E4-D78CCAA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端到端实验覆盖 LLaMA3.1-8B、Mistral-24B、LLaMA3.1-70B 等模型。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论文还报告权重 footprint 约降到 71%-72%，节省显存可用于扩大 KV cache。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论文也承认在 A100/H800 这类 HBM 更强的训练型 GPU 上，ZipGEMM 不一定超过 cuBLAS。</a:t>
            </a:r>
          </a:p>
        </p:txBody>
      </p:sp>
    </p:spTree>
    <p:extLst>
      <p:ext uri="{BB962C8B-B14F-4D97-AF65-F5344CB8AC3E}">
        <p14:creationId xmlns:p14="http://schemas.microsoft.com/office/powerpoint/2010/main" val="771976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D0B33-D000-4667-B180-2C314973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原论文 Figure 11：kernel 主对比实验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CBA4D-7F9C-4D03-BFD6-D5A7CF5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对应原 PPT “论文主要成果”：ZipGEMM 在 RTX4090 / L40S 上相对 cuBLAS_TC 与其他无损压缩 baseline 的速度对比。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e19cd23d445cb"/>
          <a:stretch xmlns:a="http://schemas.openxmlformats.org/drawingml/2006/main"/>
        </p:blipFill>
        <p:spPr>
          <a:xfrm xmlns:a="http://schemas.openxmlformats.org/drawingml/2006/main">
            <a:off x="781050" y="1385633"/>
            <a:ext cx="10629900" cy="391528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3C416-A0A9-4BEE-B0A8-E7113514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629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汇报要点：原论文主张 ZipGEMM 不只是节省存储，而是在部分 LLM layer shape 上把压缩收益转化为 kernel 加速。我的复现没有完整跑外部 baseline，但用 L20 的 shape sweep 验证了相似趋势。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91B4F-2B7E-4EAE-820B-0D4DBE5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94A3B8"/>
                </a:solidFill>
              </a:defRPr>
            </a:pPr>
            <a:r>
              <a:rPr sz="600">
                <a:solidFill>
                  <a:srgbClr val="94A3B8"/>
                </a:solidFill>
              </a:rPr>
              <a:t>ZipServ reproduction</a:t>
            </a:r>
          </a:p>
        </p:txBody>
      </p:sp>
    </p:spTree>
    <p:extLst>
      <p:ext uri="{BB962C8B-B14F-4D97-AF65-F5344CB8AC3E}">
        <p14:creationId xmlns:p14="http://schemas.microsoft.com/office/powerpoint/2010/main" val="15829222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98CF095-9B3B-41BD-B537-61F4AD97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我的复现范围：先完成官方 kernel benchmark 的可追溯闭环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750B35-8197-49B2-9DF3-03CF4C2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受硬件和时间限制，重点复现最能落地的 CUDA benchmark 部分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536341-1A3E-4CE6-95EF-82FE42F9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BEDBD39-1010-415F-A16E-4CDFF545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05F7DF0-7FAF-42E3-B11D-70DE9D82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C6089C8-0EB6-4319-AEB2-36473A6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C28482-895C-4606-9B76-798E0CBF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19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工程代码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D60D31D-AF93-4451-ABFD-0A73A977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38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code/ZipServ_ASPLOS26_patched/，保存经过 CUDA 12.0 兼容修复的完整官方工程。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96AD433-9B15-439A-A8B2-D672845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F601877-8609-4934-B96E-83EDA10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一键编译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96DD15C-8EB7-4D54-BB96-F8064BA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0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scripts/setup_zipserv.sh，可编译 libL_API.so、test_mm、test_decompress。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89DA9B7-2F2A-4C18-8E00-AF22F1E7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D361D35-41C9-49AD-BE42-C01743D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最小实验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0A562DB-D932-436C-8730-7FC369D4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62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test_mm 4096 4096 128 1，日志保存在 logs/experiments/。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2981017-498A-4148-A2BF-DD803C88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F49F356-231F-4196-ACAE-E4D7977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解压实验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4EE599C-4516-4D82-9EF7-47685F2E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24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test_decompress 128 128 128，验证解压结果 100% identical。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6D4616E-61F1-4529-8409-C4491CE5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80F7681-0CB4-4C78-9762-6B52151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批量实验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C60BE5C-79ED-4687-93D4-C839F96A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86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 sweep 和 shape sweep，自动生成 CSV、Markdown 摘要和 PNG/PDF 图表。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8D6E563-A96D-432F-9B34-03F0052B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A4E8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64B82C5-A070-499E-A251-B80B2997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2927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111111"/>
                </a:solidFill>
              </a:defRPr>
            </a:pPr>
            <a:r>
              <a:rPr sz="1163" b="0">
                <a:solidFill>
                  <a:srgbClr val="111111"/>
                </a:solidFill>
              </a:rPr>
              <a:t>官方仓库支持</a:t>
            </a:r>
            <a:r>
              <a:rPr sz="1163" b="0">
                <a:solidFill>
                  <a:srgbClr val="111111"/>
                </a:solidFill>
              </a:rPr>
              <a:t> </a:t>
            </a:r>
            <a:r>
              <a:rPr sz="1163" b="0">
                <a:solidFill>
                  <a:srgbClr val="111111"/>
                </a:solidFill>
              </a:rPr>
              <a:t>ZipServ</a:t>
            </a:r>
            <a:r>
              <a:rPr sz="1163" b="0">
                <a:solidFill>
                  <a:srgbClr val="111111"/>
                </a:solidFill>
              </a:rPr>
              <a:t> kernel benchmark 和 </a:t>
            </a:r>
            <a:r>
              <a:rPr sz="1163" b="0">
                <a:solidFill>
                  <a:srgbClr val="111111"/>
                </a:solidFill>
              </a:rPr>
              <a:t>cuBLAS</a:t>
            </a:r>
            <a:r>
              <a:rPr sz="1163" b="0">
                <a:solidFill>
                  <a:srgbClr val="111111"/>
                </a:solidFill>
              </a:rPr>
              <a:t> 对比；DietGPU、nvCOMP、DFloat11、vLLM </a:t>
            </a:r>
            <a:r>
              <a:rPr sz="1163" b="0">
                <a:solidFill>
                  <a:srgbClr val="111111"/>
                </a:solidFill>
              </a:rPr>
              <a:t>等外部</a:t>
            </a:r>
            <a:r>
              <a:rPr sz="1163" b="0">
                <a:solidFill>
                  <a:srgbClr val="111111"/>
                </a:solidFill>
              </a:rPr>
              <a:t> baseline </a:t>
            </a:r>
            <a:r>
              <a:rPr sz="1163" b="0">
                <a:solidFill>
                  <a:srgbClr val="111111"/>
                </a:solidFill>
              </a:rPr>
              <a:t>需要额外获取、编译和适配，所以本次优先完成官方代码支持的</a:t>
            </a:r>
            <a:r>
              <a:rPr sz="1163" b="0">
                <a:solidFill>
                  <a:srgbClr val="111111"/>
                </a:solidFill>
              </a:rPr>
              <a:t> kernel-level </a:t>
            </a:r>
            <a:r>
              <a:rPr sz="1163" b="0">
                <a:solidFill>
                  <a:srgbClr val="111111"/>
                </a:solidFill>
              </a:rPr>
              <a:t>实验</a:t>
            </a:r>
            <a:r>
              <a:rPr sz="1163" b="0">
                <a:solidFill>
                  <a:srgbClr val="11111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80981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C1F113A-928D-433F-AFAC-B02ED7B2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服务器环境与兼容性修改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9DEB83-89A2-4745-BF87-C231629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真正复现时，工程问题往往比论文公式更先挡路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41ECA0-86B0-485B-B207-6AB55E8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1ACBF2-C6F6-4679-B103-BC6EFC61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949176-2A14-4B41-AC63-FA1DE03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863EBC0-2739-4805-B7BC-B24E94A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571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52D479-AB25-49B6-BA7D-BC078D3A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19275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NVIDIA L20 x2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4A16FED-2C64-4AEA-B4B2-86D11518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47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current GPU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A265BE-1FD2-4ED2-9087-00BC97B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66875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DEA7FD1-414B-45CB-9C8C-9977D7EE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8192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CUDA 12.0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205D439-E3F9-44CF-85A3-E421718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47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nvcc at /usr/bin/nvcc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23FE3C3-925E-457E-B875-23FE1DE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2190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1EE791F-337E-4682-87F7-F541D7E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19275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gcc 13.3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00AD98E-C49C-44A7-96A6-7D8F8AB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479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make 4.3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52250C2-D453-46D7-B962-AD838172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31ABDFE-9329-40FA-8F2A-B3902B5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1927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conda zipserv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683796-F89A-4327-AF38-4DBE1AB4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47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Python 3.10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C3D65D1-23EE-4780-BC8E-D1EA012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5760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</a:t>
            </a:r>
            <a:r>
              <a:rPr sz="1650" b="0">
                <a:solidFill>
                  <a:srgbClr val="111111"/>
                </a:solidFill>
              </a:rPr>
              <a:t>官方</a:t>
            </a:r>
            <a:r>
              <a:rPr sz="1650" b="0">
                <a:solidFill>
                  <a:srgbClr val="111111"/>
                </a:solidFill>
              </a:rPr>
              <a:t> </a:t>
            </a:r>
            <a:r>
              <a:rPr sz="1650" b="0">
                <a:solidFill>
                  <a:srgbClr val="111111"/>
                </a:solidFill>
              </a:rPr>
              <a:t>Makefile</a:t>
            </a:r>
            <a:r>
              <a:rPr sz="1650" b="0">
                <a:solidFill>
                  <a:srgbClr val="111111"/>
                </a:solidFill>
              </a:rPr>
              <a:t> </a:t>
            </a:r>
            <a:r>
              <a:rPr sz="1650" b="0">
                <a:solidFill>
                  <a:srgbClr val="111111"/>
                </a:solidFill>
              </a:rPr>
              <a:t>默认</a:t>
            </a:r>
            <a:r>
              <a:rPr sz="1650" b="0">
                <a:solidFill>
                  <a:srgbClr val="111111"/>
                </a:solidFill>
              </a:rPr>
              <a:t> /</a:t>
            </a:r>
            <a:r>
              <a:rPr sz="1650" b="0">
                <a:solidFill>
                  <a:srgbClr val="111111"/>
                </a:solidFill>
              </a:rPr>
              <a:t>usr</a:t>
            </a:r>
            <a:r>
              <a:rPr sz="1650" b="0">
                <a:solidFill>
                  <a:srgbClr val="111111"/>
                </a:solidFill>
              </a:rPr>
              <a:t>/local/</a:t>
            </a:r>
            <a:r>
              <a:rPr sz="1650" b="0">
                <a:solidFill>
                  <a:srgbClr val="111111"/>
                </a:solidFill>
              </a:rPr>
              <a:t>cuda：脚本里显式传</a:t>
            </a:r>
            <a:r>
              <a:rPr sz="1650" b="0">
                <a:solidFill>
                  <a:srgbClr val="111111"/>
                </a:solidFill>
              </a:rPr>
              <a:t> CUDA_INSTALL_PATH=/</a:t>
            </a:r>
            <a:r>
              <a:rPr sz="1650" b="0">
                <a:solidFill>
                  <a:srgbClr val="111111"/>
                </a:solidFill>
              </a:rPr>
              <a:t>usr</a:t>
            </a:r>
            <a:r>
              <a:rPr sz="1650" b="0">
                <a:solidFill>
                  <a:srgbClr val="111111"/>
                </a:solidFill>
              </a:rPr>
              <a:t> CUDA_HOME=/</a:t>
            </a:r>
            <a:r>
              <a:rPr sz="1650" b="0">
                <a:solidFill>
                  <a:srgbClr val="111111"/>
                </a:solidFill>
              </a:rPr>
              <a:t>usr</a:t>
            </a:r>
            <a:r>
              <a:rPr sz="1650" b="0">
                <a:solidFill>
                  <a:srgbClr val="111111"/>
                </a:solidFill>
              </a:rPr>
              <a:t>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CUDA 12.0 下 BF16 intrinsic host/device </a:t>
            </a:r>
            <a:r>
              <a:rPr sz="1650" b="0">
                <a:solidFill>
                  <a:srgbClr val="111111"/>
                </a:solidFill>
              </a:rPr>
              <a:t>不兼容：增加</a:t>
            </a:r>
            <a:r>
              <a:rPr sz="1650" b="0">
                <a:solidFill>
                  <a:srgbClr val="111111"/>
                </a:solidFill>
              </a:rPr>
              <a:t> host 端 std::</a:t>
            </a:r>
            <a:r>
              <a:rPr sz="1650" b="0">
                <a:solidFill>
                  <a:srgbClr val="111111"/>
                </a:solidFill>
              </a:rPr>
              <a:t>memcpy</a:t>
            </a:r>
            <a:r>
              <a:rPr sz="1650" b="0">
                <a:solidFill>
                  <a:srgbClr val="111111"/>
                </a:solidFill>
              </a:rPr>
              <a:t> bit </a:t>
            </a:r>
            <a:r>
              <a:rPr sz="1650" b="0">
                <a:solidFill>
                  <a:srgbClr val="111111"/>
                </a:solidFill>
              </a:rPr>
              <a:t>转换函数</a:t>
            </a:r>
            <a:r>
              <a:rPr sz="1650" b="0">
                <a:solidFill>
                  <a:srgbClr val="11111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673754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DCD75B-A0B4-4BE9-94C8-79C5345B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最小实验验证：代码能编译，解压保持 lossless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28C0A07-2725-44D8-B0D5-F6FB320D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这是后续 sweep 实验的基础，不直接代表论文全部主结论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8ACC2F9-D812-4E21-8571-D5D6E94B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2055A42-F298-4187-94DC-31AEB14C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7FF221-7F73-4AC9-BC08-616EE7E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ED4A34A-57F1-4488-B699-94DD601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C895C3-0DA3-4A0C-8463-FDAFDB2F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66900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0.139 ms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2E5441-3530-49ED-B478-785B4340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955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test_mm ZipServ latency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A0CD3B3-1AD5-4BE6-8DC1-14023F8A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714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8824084-304F-4F8A-9D16-2BE4B88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30.88 TFLOPs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3513F3-4C2A-4554-81C7-7C8E028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95525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test_mm ZipServ throughput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796E9F2-69EB-4886-957C-E6F71F7B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1561885-FEA4-45EF-8AE1-2AB63FD3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669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100%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4683FDB-2735-40E3-81E9-136D8B00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955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decompression identical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3B22B4F-66EB-4945-876B-737B21EC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F1BA0A6-3859-4B7D-BEEC-143E8FFB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669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0 error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803681A-D53A-4709-8F64-377A300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955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decompress absolute error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C7149DE-45A2-44A2-9DEF-82A6BFAF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</a:t>
            </a:r>
            <a:r>
              <a:rPr sz="1650" b="0">
                <a:solidFill>
                  <a:srgbClr val="111111"/>
                </a:solidFill>
              </a:rPr>
              <a:t>test_mm</a:t>
            </a:r>
            <a:r>
              <a:rPr sz="1650" b="0">
                <a:solidFill>
                  <a:srgbClr val="111111"/>
                </a:solidFill>
              </a:rPr>
              <a:t> 4096 4096 128 1：可以输出 </a:t>
            </a:r>
            <a:r>
              <a:rPr sz="1650" b="0">
                <a:solidFill>
                  <a:srgbClr val="111111"/>
                </a:solidFill>
              </a:rPr>
              <a:t>ZipServ、cuBLAS_TC、cuBLAS_non-TC</a:t>
            </a:r>
            <a:r>
              <a:rPr sz="1650" b="0">
                <a:solidFill>
                  <a:srgbClr val="111111"/>
                </a:solidFill>
              </a:rPr>
              <a:t> </a:t>
            </a:r>
            <a:r>
              <a:rPr sz="1650" b="0">
                <a:solidFill>
                  <a:srgbClr val="111111"/>
                </a:solidFill>
              </a:rPr>
              <a:t>的时间和</a:t>
            </a:r>
            <a:r>
              <a:rPr sz="1650" b="0">
                <a:solidFill>
                  <a:srgbClr val="111111"/>
                </a:solidFill>
              </a:rPr>
              <a:t> TFLOPs。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</a:t>
            </a:r>
            <a:r>
              <a:rPr sz="1650" b="0">
                <a:solidFill>
                  <a:srgbClr val="111111"/>
                </a:solidFill>
              </a:rPr>
              <a:t>test_decompress</a:t>
            </a:r>
            <a:r>
              <a:rPr sz="1650" b="0">
                <a:solidFill>
                  <a:srgbClr val="111111"/>
                </a:solidFill>
              </a:rPr>
              <a:t> 128 128 128：原始矩阵和解压矩阵 16384 </a:t>
            </a:r>
            <a:r>
              <a:rPr sz="1650" b="0">
                <a:solidFill>
                  <a:srgbClr val="111111"/>
                </a:solidFill>
              </a:rPr>
              <a:t>个元素完全一致</a:t>
            </a:r>
            <a:r>
              <a:rPr sz="1650" b="0">
                <a:solidFill>
                  <a:srgbClr val="111111"/>
                </a:solidFill>
              </a:rPr>
              <a:t>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</a:t>
            </a:r>
            <a:r>
              <a:rPr sz="1650" b="0">
                <a:solidFill>
                  <a:srgbClr val="111111"/>
                </a:solidFill>
              </a:rPr>
              <a:t>说明官方</a:t>
            </a:r>
            <a:r>
              <a:rPr sz="1650" b="0">
                <a:solidFill>
                  <a:srgbClr val="111111"/>
                </a:solidFill>
              </a:rPr>
              <a:t> kernel benchmark </a:t>
            </a:r>
            <a:r>
              <a:rPr sz="1650" b="0">
                <a:solidFill>
                  <a:srgbClr val="111111"/>
                </a:solidFill>
              </a:rPr>
              <a:t>在当前服务器上已经跑通</a:t>
            </a:r>
            <a:r>
              <a:rPr sz="1650" b="0">
                <a:solidFill>
                  <a:srgbClr val="11111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03131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0D823E4-FC47-4C39-A6CD-6128BD5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 sweep：在 L20 上观察不同 token/batch 维度下的趋势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3C7900E-F3F7-4047-8525-74BBE86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固定 M=4096, K=4096, SplitK=1，扫描 N=1 到 512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1F3668F-2327-469A-8BF4-7B36FFA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74137F0-7D25-4A12-9250-C2FD422C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0746C13-00EE-4519-9A4B-80300219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13</a:t>
            </a: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a71e5c07746f7"/>
          <a:stretch xmlns:a="http://schemas.openxmlformats.org/drawingml/2006/main"/>
        </p:blipFill>
        <p:spPr>
          <a:xfrm xmlns:a="http://schemas.openxmlformats.org/drawingml/2006/main">
            <a:off x="666750" y="1862138"/>
            <a:ext cx="5143500" cy="3086100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1f18b1b144b09"/>
          <a:stretch xmlns:a="http://schemas.openxmlformats.org/drawingml/2006/main"/>
        </p:blipFill>
        <p:spPr>
          <a:xfrm xmlns:a="http://schemas.openxmlformats.org/drawingml/2006/main">
            <a:off x="6191250" y="1919288"/>
            <a:ext cx="4953000" cy="29718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5302763-7F28-48A5-8827-A96F3D4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观察：本次 L20 结果中 ZipServ 没有超过 cuBLAS_TC，但明显快于 cuBLAS_non-TC；说明硬件和 shape 会影响收益。</a:t>
            </a:r>
          </a:p>
        </p:txBody>
      </p:sp>
    </p:spTree>
    <p:extLst>
      <p:ext uri="{BB962C8B-B14F-4D97-AF65-F5344CB8AC3E}">
        <p14:creationId xmlns:p14="http://schemas.microsoft.com/office/powerpoint/2010/main" val="12425520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27D36B-A20A-4F51-91C0-CDB10562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Shape sweep：部分 FFN GateUp 类形状出现加速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CD359D-C130-4F96-9CD9-5D7D7FEE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这更接近论文 Figure 11 的 kernel-level 主对比逻辑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EBB129-E097-48AD-AFFE-C1FE5F5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584E439-2FC7-4DEB-BF84-3137B48C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0747308-44DD-4BA3-A344-1F524A1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14</a:t>
            </a: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dff0b317b4e7e"/>
          <a:stretch xmlns:a="http://schemas.openxmlformats.org/drawingml/2006/main"/>
        </p:blipFill>
        <p:spPr>
          <a:xfrm xmlns:a="http://schemas.openxmlformats.org/drawingml/2006/main">
            <a:off x="666750" y="2033588"/>
            <a:ext cx="5143500" cy="2743200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e21cf6f154423"/>
          <a:stretch xmlns:a="http://schemas.openxmlformats.org/drawingml/2006/main"/>
        </p:blipFill>
        <p:spPr>
          <a:xfrm xmlns:a="http://schemas.openxmlformats.org/drawingml/2006/main">
            <a:off x="6191250" y="2006693"/>
            <a:ext cx="4953000" cy="2796988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E5FE2A-1D68-4F50-8D6E-03F7DE1C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观察：11008x4096 和 28672x4096 两个 GateUp-like shape 相对 cuBLAS_TC speedup 分别约 1.40 和 1.28。</a:t>
            </a:r>
          </a:p>
        </p:txBody>
      </p:sp>
    </p:spTree>
    <p:extLst>
      <p:ext uri="{BB962C8B-B14F-4D97-AF65-F5344CB8AC3E}">
        <p14:creationId xmlns:p14="http://schemas.microsoft.com/office/powerpoint/2010/main" val="21471240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4FBAE93-49DD-4451-AFDE-3375BBD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复现结果和原论文结果不完全一致是合理的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55E1E18-6177-466F-B3D0-34EE286B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关键是解释差异来源，而不是只报成功数字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F5497B-7994-49D9-9C92-CB22258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14CD7BB-64F0-414E-9FF1-2DFCAE9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3E92C18-92EC-4164-B9C3-A79E655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E38F0B5-55F1-41B0-9E2D-CAACA9C1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0D7DD15-9656-4D08-BA09-ECF3F851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5B0793-5803-4C09-A5C9-5A4563D5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原论文条件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3161D1B-1EF3-4D74-ACFD-FA47A997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RTX4090 / L40S / RTX5090 / A100 / H800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包含 DietGPU、nvCOMP、DFloat11 等 baseline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包含 vLLM 端到端推理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覆盖更多模型和 layer shape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898CB4E-597B-45A1-8431-61C862D6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19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457A6"/>
                </a:solidFill>
              </a:defRPr>
            </a:pPr>
            <a:r>
              <a:rPr sz="1950" b="1">
                <a:solidFill>
                  <a:srgbClr val="2457A6"/>
                </a:solidFill>
              </a:rPr>
              <a:t>本次复现条件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41E41C2-9D19-4322-AC2B-EAEB7B55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NVIDIA L20 服务器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官方 benchmark 内置 cuBLAS 对比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kernel-level 实验为主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选取代表性 shape 和 N sweep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1A27A38-7518-4BDE-80F9-C14738CE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4"/>
                </a:solidFill>
              </a:defRPr>
            </a:pPr>
            <a:r>
              <a:rPr sz="1500" b="0">
                <a:solidFill>
                  <a:srgbClr val="545B64"/>
                </a:solidFill>
              </a:rPr>
              <a:t>所以本次结论更适合表述为：完成可追溯的 kernel-level 简化复现，并验证部分形状下的趋势。</a:t>
            </a:r>
          </a:p>
        </p:txBody>
      </p:sp>
    </p:spTree>
    <p:extLst>
      <p:ext uri="{BB962C8B-B14F-4D97-AF65-F5344CB8AC3E}">
        <p14:creationId xmlns:p14="http://schemas.microsoft.com/office/powerpoint/2010/main" val="15045122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A4A8A18-B146-4138-AF3B-9287391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可复现性评价：kernel 部分较好，系统级部分门槛较高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68946E9-741D-41AF-AA6D-85870FF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这部分可以作为老师提问时的回答重点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0E1F112-E828-4E1D-9A8A-85FAAE2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230E71-8468-46C7-8808-F5158712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57BD2D-05CE-4F4C-AA8B-F1B08C60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5969753-2951-4481-8A24-A5AE985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9D006C1-911D-4319-AB80-00A9B4EA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145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代码完整性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0D812C6-9B96-4487-89E5-38B1059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3357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官方仓库提供 kernel benchmark，但在当前 CUDA 12.0 环境中需要额外兼容性修改。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5ED9420-82C1-41C1-9327-A1BA1515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523E88E-A755-4381-BCAE-96E5E0AE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实验描述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2E0B34B-419E-4FAE-9F21-E361D9B6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论文核心思想清楚，但完整复刻 Figure 11/16/17 还需要更多 baseline、模型权重和配置细节。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15B1816-BED5-4018-96FA-319DCC3D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558E528-EAAF-440B-9E89-775FFB0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隐藏成本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681B4B-2DD6-4A38-B237-E2E908BB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硬件、CUDA 版本、SplitK、矩阵 shape、baseline 实现都会影响最终性能数值。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800746-3C2E-4EC5-8C6B-08696BD4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12E1E8E-73FF-4813-B9C9-A78DFD2E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我的处理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978830D-8EB9-4604-A308-3A18B1C2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保留完整日志、结果 CSV、图表、patch 和踩坑记录，让复现过程可追溯、可检查。</a:t>
            </a:r>
          </a:p>
        </p:txBody>
      </p:sp>
    </p:spTree>
    <p:extLst>
      <p:ext uri="{BB962C8B-B14F-4D97-AF65-F5344CB8AC3E}">
        <p14:creationId xmlns:p14="http://schemas.microsoft.com/office/powerpoint/2010/main" val="17886372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FD22508-BC7C-4DD1-8C80-1D723552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后续研究方向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3D50F5-59DD-429F-BCF7-AB09362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45B64"/>
                </a:solidFill>
              </a:defRPr>
            </a:pPr>
            <a:r>
              <a:rPr sz="1350" b="0">
                <a:solidFill>
                  <a:srgbClr val="545B64"/>
                </a:solidFill>
              </a:rPr>
              <a:t>按投入产出比排序，而不是一上来做最重的端到端实验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EF511C6-297F-47DD-A13D-98A04289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26C94B-07FD-4E45-9DB5-61C3E22C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1B3100F-A050-414A-A0AB-AD19155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F856FE6-661B-4969-8D4B-2A5DDA4F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4F51CB2-AD80-44DD-8080-91DCB8D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BAA4C11-EED5-4AC4-8C03-C383B1DC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993AD6C-60BE-4345-B495-0C43BEC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1. Baseline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478EABC-B538-4ABC-8CD5-97B16B7C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DietGPU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nvCOMP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补 DFloat11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完善 Figure 11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A83D90-2C35-4314-9A3D-E0BDC71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2. Profiling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B775874-87BA-4629-9C27-57E51C4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Nsight Compute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显存流量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Tensor Core 利用率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复刻 Figure 12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33A31E2-BE1C-4F6D-BE94-2387F4B0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90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57A6"/>
                </a:solidFill>
              </a:defRPr>
            </a:pPr>
            <a:r>
              <a:rPr sz="2100" b="1">
                <a:solidFill>
                  <a:srgbClr val="2457A6"/>
                </a:solidFill>
              </a:rPr>
              <a:t>3. End-to-end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3481698-7320-42AE-A482-7E767A5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下载模型权重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vLLM 集成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吞吐和延迟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复刻 Figure 16/17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4943B04-FBDB-4C22-9FCB-A63B075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39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A4E8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156FA37-E9CC-4322-84C0-B20FA44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57A6"/>
                </a:solidFill>
              </a:defRPr>
            </a:pPr>
            <a:r>
              <a:rPr sz="1500" b="1">
                <a:solidFill>
                  <a:srgbClr val="2457A6"/>
                </a:solidFill>
              </a:rPr>
              <a:t>后续实验可行性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1BF2F6E-70C7-4C03-BDD6-395DE0D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24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15" b="0">
                <a:solidFill>
                  <a:srgbClr val="111111"/>
                </a:solidFill>
              </a:defRPr>
            </a:pPr>
            <a:r>
              <a:rPr sz="1215" b="0">
                <a:solidFill>
                  <a:srgbClr val="111111"/>
                </a:solidFill>
              </a:rPr>
              <a:t>Baseline：可以尝试但需额外适配；Profiling：取决于 ncu 是否安装和 GPU profiling 权限；End-to-end：需要模型权重、vLLM 集成和较长 GPU 独占时间，因此作为后续工作，不承诺当前已完成。</a:t>
            </a:r>
          </a:p>
        </p:txBody>
      </p:sp>
    </p:spTree>
    <p:extLst>
      <p:ext uri="{BB962C8B-B14F-4D97-AF65-F5344CB8AC3E}">
        <p14:creationId xmlns:p14="http://schemas.microsoft.com/office/powerpoint/2010/main" val="14704506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0A6DE7C-692B-4471-80A8-0C57D26E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总结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9C4EE1-0D92-46A4-86E1-7F48658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3CCF797-0FCA-47DA-A978-FB590BB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C14F3D2-F8BC-42A9-BD24-0F73A54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82DBD9A-339B-45A4-AEA6-1A7FAFF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66DD842-6F60-4EE7-A32C-6399DDD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Paper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96CEE46-1487-4CB6-8B56-DAD208A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955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理解</a:t>
            </a:r>
            <a:r>
              <a:rPr sz="1125" b="0">
                <a:solidFill>
                  <a:srgbClr val="545B64"/>
                </a:solidFill>
              </a:rPr>
              <a:t> </a:t>
            </a:r>
            <a:r>
              <a:rPr sz="1125" b="0">
                <a:solidFill>
                  <a:srgbClr val="545B64"/>
                </a:solidFill>
              </a:rPr>
              <a:t>ZipServ</a:t>
            </a:r>
            <a:r>
              <a:rPr sz="1125" b="0">
                <a:solidFill>
                  <a:srgbClr val="545B64"/>
                </a:solidFill>
              </a:rPr>
              <a:t> </a:t>
            </a:r>
            <a:r>
              <a:rPr sz="1125" b="0">
                <a:solidFill>
                  <a:srgbClr val="545B64"/>
                </a:solidFill>
              </a:rPr>
              <a:t>的问题、方法和原文结果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A3832B-010C-4CCD-B6B4-02F7A0BB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2667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9CDD4FB-1257-449A-8F1E-1615EB5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669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57A6"/>
                </a:solidFill>
              </a:defRPr>
            </a:pPr>
            <a:r>
              <a:rPr sz="2400" b="1">
                <a:solidFill>
                  <a:srgbClr val="2457A6"/>
                </a:solidFill>
              </a:rPr>
              <a:t>Code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2CB14A1-5C3C-4F3C-B073-D78F6FA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955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编译官方代码并做 CUDA 兼容修复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EC1BD8A-9FBF-4403-BFFF-150057DA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9307D94-D5CC-4B59-87A6-E59C15C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69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7F5F"/>
                </a:solidFill>
              </a:defRPr>
            </a:pPr>
            <a:r>
              <a:rPr sz="2400" b="1">
                <a:solidFill>
                  <a:srgbClr val="1D7F5F"/>
                </a:solidFill>
              </a:rPr>
              <a:t>Experiment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E481A13-2266-4932-9EBB-38146F0E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955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4"/>
                </a:solidFill>
              </a:defRPr>
            </a:pPr>
            <a:r>
              <a:rPr sz="1125" b="0">
                <a:solidFill>
                  <a:srgbClr val="545B64"/>
                </a:solidFill>
              </a:rPr>
              <a:t>完成 test_mm、decompress、N sweep、shape sweep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7955A5F-A969-41BB-A852-E1580E9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981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</a:t>
            </a:r>
            <a:r>
              <a:rPr sz="1800" b="0">
                <a:solidFill>
                  <a:srgbClr val="111111"/>
                </a:solidFill>
              </a:rPr>
              <a:t>ZipServ</a:t>
            </a:r>
            <a:r>
              <a:rPr sz="1800" b="0">
                <a:solidFill>
                  <a:srgbClr val="111111"/>
                </a:solidFill>
              </a:rPr>
              <a:t> </a:t>
            </a:r>
            <a:r>
              <a:rPr sz="1800" b="0">
                <a:solidFill>
                  <a:srgbClr val="111111"/>
                </a:solidFill>
              </a:rPr>
              <a:t>的价值在于把</a:t>
            </a:r>
            <a:r>
              <a:rPr sz="1800" b="0">
                <a:solidFill>
                  <a:srgbClr val="111111"/>
                </a:solidFill>
              </a:rPr>
              <a:t> lossless compression </a:t>
            </a:r>
            <a:r>
              <a:rPr sz="1800" b="0">
                <a:solidFill>
                  <a:srgbClr val="111111"/>
                </a:solidFill>
              </a:rPr>
              <a:t>从“省存储”推进到“可加速推理</a:t>
            </a:r>
            <a:r>
              <a:rPr sz="1800" b="0">
                <a:solidFill>
                  <a:srgbClr val="111111"/>
                </a:solidFill>
              </a:rPr>
              <a:t>”。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</a:t>
            </a:r>
            <a:r>
              <a:rPr sz="1800" b="0">
                <a:solidFill>
                  <a:srgbClr val="111111"/>
                </a:solidFill>
              </a:rPr>
              <a:t>我的复现证明官方</a:t>
            </a:r>
            <a:r>
              <a:rPr sz="1800" b="0">
                <a:solidFill>
                  <a:srgbClr val="111111"/>
                </a:solidFill>
              </a:rPr>
              <a:t> kernel benchmark </a:t>
            </a:r>
            <a:r>
              <a:rPr sz="1800" b="0">
                <a:solidFill>
                  <a:srgbClr val="111111"/>
                </a:solidFill>
              </a:rPr>
              <a:t>可以在当前</a:t>
            </a:r>
            <a:r>
              <a:rPr sz="1800" b="0">
                <a:solidFill>
                  <a:srgbClr val="111111"/>
                </a:solidFill>
              </a:rPr>
              <a:t> L20 </a:t>
            </a:r>
            <a:r>
              <a:rPr sz="1800" b="0">
                <a:solidFill>
                  <a:srgbClr val="111111"/>
                </a:solidFill>
              </a:rPr>
              <a:t>服务器上运行，并得到可分析的结果</a:t>
            </a:r>
            <a:r>
              <a:rPr sz="1800" b="0">
                <a:solidFill>
                  <a:srgbClr val="111111"/>
                </a:solidFill>
              </a:rPr>
              <a:t>。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</a:t>
            </a:r>
            <a:r>
              <a:rPr sz="1800" b="0">
                <a:solidFill>
                  <a:srgbClr val="111111"/>
                </a:solidFill>
              </a:rPr>
              <a:t>局限是未完整覆盖原文全部</a:t>
            </a:r>
            <a:r>
              <a:rPr sz="1800" b="0">
                <a:solidFill>
                  <a:srgbClr val="111111"/>
                </a:solidFill>
              </a:rPr>
              <a:t> baseline </a:t>
            </a:r>
            <a:r>
              <a:rPr sz="1800" b="0">
                <a:solidFill>
                  <a:srgbClr val="111111"/>
                </a:solidFill>
              </a:rPr>
              <a:t>和端到端系统实验，后续可继续扩展</a:t>
            </a:r>
            <a:r>
              <a:rPr sz="1800" b="0">
                <a:solidFill>
                  <a:srgbClr val="11111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5531851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AFA4E7A-9C16-9C33-C442-AFE44C3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32938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</a:defRPr>
            </a:pPr>
            <a:r>
              <a:rPr sz="4000" b="1">
                <a:solidFill>
                  <a:srgbClr val="111111"/>
                </a:solidFill>
              </a:rPr>
              <a:t>感谢聆听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</a:defRPr>
            </a:pPr>
          </a:p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</a:defRPr>
            </a:pPr>
            <a:r>
              <a:rPr sz="4000" b="1">
                <a:solidFill>
                  <a:srgbClr val="111111"/>
                </a:solidFill>
              </a:rPr>
              <a:t>欢迎老师批评指正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BF0585-BB51-42F6-017E-81633410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25DC9F4-FBB5-BB0D-84BF-BA9DAD81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ZipServ reproduction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EFB1E31-949A-8C98-5193-5C86D784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</a:defRPr>
            </a:pPr>
            <a:r>
              <a:rPr sz="1050" b="0">
                <a:solidFill>
                  <a:srgbClr val="545B64"/>
                </a:solidFill>
              </a:rPr>
              <a:t>18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75188D5-FA12-4F25-40B4-D6D13C5A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381" y="4655484"/>
            <a:ext cx="4397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45B64"/>
                </a:solidFill>
              </a:defRPr>
            </a:pPr>
            <a:r>
              <a:rPr sz="1400" b="1">
                <a:solidFill>
                  <a:srgbClr val="545B64"/>
                </a:solidFill>
              </a:rPr>
              <a:t>庄子鲲 </a:t>
            </a:r>
            <a:r>
              <a:rPr sz="1400" b="1">
                <a:solidFill>
                  <a:srgbClr val="545B64"/>
                </a:solidFill>
              </a:rPr>
              <a:t>17420232200656 2026.7.15</a:t>
            </a:r>
          </a:p>
        </p:txBody>
      </p:sp>
    </p:spTree>
    <p:extLst>
      <p:ext uri="{BB962C8B-B14F-4D97-AF65-F5344CB8AC3E}">
        <p14:creationId xmlns:p14="http://schemas.microsoft.com/office/powerpoint/2010/main" val="3770921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2026-07-17T20:47:05.0840000Z</dcterms:created>
  <dcterms:modified xsi:type="dcterms:W3CDTF">2026-07-17T20:47:05.0840000Z</dcterms:modified>
</coreProperties>
</file>