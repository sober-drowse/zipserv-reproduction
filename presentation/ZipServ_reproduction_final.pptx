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80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41981-2384-BB00-6EAB-CCC49F29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5D44E-E1A5-1383-1A75-FE76A79C4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F1060-1D55-8B29-82F4-73D9FBBBD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898BE-5A72-5705-1781-0EE5AFA72F5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7879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1D76B21-ACFD-42B0-9031-60D0EB9EAB0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ZipServ 论文复现与结果分析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4CCFBC-CB0E-4335-AB5C-5B5FFE9A0FEE}"/>
              </a:ext>
            </a:extLst>
          </p:cNvPr>
          <p:cNvSpPr>
            <a:spLocks noGrp="1"/>
          </p:cNvSpPr>
          <p:nvPr/>
        </p:nvSpPr>
        <p:spPr>
          <a:xfrm>
            <a:off x="704850" y="154305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Fast and Memory-Efficient LLM Inference with Hardware-Aware Lossless Compression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66DD5F-DD88-4D2D-912E-B50133087533}"/>
              </a:ext>
            </a:extLst>
          </p:cNvPr>
          <p:cNvSpPr>
            <a:spLocks noGrp="1"/>
          </p:cNvSpPr>
          <p:nvPr/>
        </p:nvSpPr>
        <p:spPr>
          <a:xfrm>
            <a:off x="704850" y="2667000"/>
            <a:ext cx="9810750" cy="1762125"/>
          </a:xfrm>
          <a:prstGeom prst="rect">
            <a:avLst/>
          </a:prstGeom>
          <a:solidFill>
            <a:srgbClr val="F3F5F8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BA1D78-813D-4AC1-9442-152F0997F54F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汇报目录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E31B2F-ECB1-495D-AFD5-1FB9E9776F7D}"/>
              </a:ext>
            </a:extLst>
          </p:cNvPr>
          <p:cNvSpPr>
            <a:spLocks noGrp="1"/>
          </p:cNvSpPr>
          <p:nvPr/>
        </p:nvSpPr>
        <p:spPr>
          <a:xfrm>
            <a:off x="1009650" y="3476625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分析原论文为什么做 ZipServ、怎么做、效果是什么</a:t>
            </a:r>
          </a:p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说明 L20 服务器上复现了哪些实验、得到什么结果</a:t>
            </a:r>
          </a:p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分析为什么复现结果不能直接等同于原论文全部结论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881F9B-DD30-4C79-8A1A-A6F3D16F9659}"/>
              </a:ext>
            </a:extLst>
          </p:cNvPr>
          <p:cNvSpPr>
            <a:spLocks noGrp="1"/>
          </p:cNvSpPr>
          <p:nvPr/>
        </p:nvSpPr>
        <p:spPr>
          <a:xfrm>
            <a:off x="704850" y="585787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软工23庄子鲲助研汇报</a:t>
            </a:r>
          </a:p>
        </p:txBody>
      </p:sp>
    </p:spTree>
    <p:extLst>
      <p:ext uri="{BB962C8B-B14F-4D97-AF65-F5344CB8AC3E}">
        <p14:creationId xmlns:p14="http://schemas.microsoft.com/office/powerpoint/2010/main" val="4484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30945767-AA7E-4491-A77D-19AE390F8E9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总览：论文解决的是推理显存和带宽问题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847A39-637B-4E77-A794-1C6A1BC400AB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大模型越来越大，瓶颈不只是算得快，也包括权重读得快、放得下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C2DF4D-AEC8-4989-8B78-0CE19F7936C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BA48B1-850B-416F-AF58-96CD5E80A13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672C67-EC2B-41DC-BFA5-E2035DC395C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BC7847-7EB8-4F1D-8C0F-93D655FDC2F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476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219E4-0BBD-47A6-9716-B1E08978C5F5}"/>
              </a:ext>
            </a:extLst>
          </p:cNvPr>
          <p:cNvSpPr>
            <a:spLocks noGrp="1"/>
          </p:cNvSpPr>
          <p:nvPr/>
        </p:nvSpPr>
        <p:spPr>
          <a:xfrm>
            <a:off x="1009650" y="1962150"/>
            <a:ext cx="2171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LLM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2717CE-577E-4A36-BCB1-A822AEFDADD6}"/>
              </a:ext>
            </a:extLst>
          </p:cNvPr>
          <p:cNvSpPr>
            <a:spLocks noGrp="1"/>
          </p:cNvSpPr>
          <p:nvPr/>
        </p:nvSpPr>
        <p:spPr>
          <a:xfrm>
            <a:off x="1009650" y="2390775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Large Language Model，大语言模型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783F12-9652-436B-AD2F-F39BC75E3C7E}"/>
              </a:ext>
            </a:extLst>
          </p:cNvPr>
          <p:cNvSpPr>
            <a:spLocks noGrp="1"/>
          </p:cNvSpPr>
          <p:nvPr/>
        </p:nvSpPr>
        <p:spPr>
          <a:xfrm>
            <a:off x="3619500" y="1809750"/>
            <a:ext cx="27622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651E97-C948-4EDB-B0AF-DF77FE6160D3}"/>
              </a:ext>
            </a:extLst>
          </p:cNvPr>
          <p:cNvSpPr>
            <a:spLocks noGrp="1"/>
          </p:cNvSpPr>
          <p:nvPr/>
        </p:nvSpPr>
        <p:spPr>
          <a:xfrm>
            <a:off x="3771900" y="1962150"/>
            <a:ext cx="2457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Inference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CA10CB-EB8A-4FB0-B157-C726411E0FBA}"/>
              </a:ext>
            </a:extLst>
          </p:cNvPr>
          <p:cNvSpPr>
            <a:spLocks noGrp="1"/>
          </p:cNvSpPr>
          <p:nvPr/>
        </p:nvSpPr>
        <p:spPr>
          <a:xfrm>
            <a:off x="3771900" y="2390775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模型已经训练好，开始生成答案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63E4F2-C303-4B5F-B7DF-12ED45B266D3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2476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71D23C-24DA-4307-A9C7-6FDB00F406BA}"/>
              </a:ext>
            </a:extLst>
          </p:cNvPr>
          <p:cNvSpPr>
            <a:spLocks noGrp="1"/>
          </p:cNvSpPr>
          <p:nvPr/>
        </p:nvSpPr>
        <p:spPr>
          <a:xfrm>
            <a:off x="6819900" y="1962150"/>
            <a:ext cx="2171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GEMM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BA3D3C-CB3C-4D0D-93C4-ACDA13A4CE58}"/>
              </a:ext>
            </a:extLst>
          </p:cNvPr>
          <p:cNvSpPr>
            <a:spLocks noGrp="1"/>
          </p:cNvSpPr>
          <p:nvPr/>
        </p:nvSpPr>
        <p:spPr>
          <a:xfrm>
            <a:off x="6819900" y="2390775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矩阵乘法，是线性层核心计算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FBD733-5DC6-4DBA-8244-A846A4778799}"/>
              </a:ext>
            </a:extLst>
          </p:cNvPr>
          <p:cNvSpPr>
            <a:spLocks noGrp="1"/>
          </p:cNvSpPr>
          <p:nvPr/>
        </p:nvSpPr>
        <p:spPr>
          <a:xfrm>
            <a:off x="9429750" y="1809750"/>
            <a:ext cx="2095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ACA722-14DE-4E61-A7A1-2E3B17BFA5F3}"/>
              </a:ext>
            </a:extLst>
          </p:cNvPr>
          <p:cNvSpPr>
            <a:spLocks noGrp="1"/>
          </p:cNvSpPr>
          <p:nvPr/>
        </p:nvSpPr>
        <p:spPr>
          <a:xfrm>
            <a:off x="9582150" y="1962150"/>
            <a:ext cx="1790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8A6400"/>
                </a:solidFill>
              </a:defRPr>
            </a:pPr>
            <a:r>
              <a:rPr sz="2400" b="1">
                <a:solidFill>
                  <a:srgbClr val="8A6400"/>
                </a:solidFill>
              </a:rPr>
              <a:t>Memory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00FFCD-E71B-4F31-A612-9715FD301810}"/>
              </a:ext>
            </a:extLst>
          </p:cNvPr>
          <p:cNvSpPr>
            <a:spLocks noGrp="1"/>
          </p:cNvSpPr>
          <p:nvPr/>
        </p:nvSpPr>
        <p:spPr>
          <a:xfrm>
            <a:off x="9582150" y="2390775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权重读写会卡住速度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C757C3-D1A3-4F61-AEBC-62D1EE37F56E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9810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大模型推理时，很多时间花在读取巨大的权重矩阵。</a:t>
            </a: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如果权重能无损压缩，就能省显存；但如果解压太慢，反而会拖慢推理。</a:t>
            </a: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ZipServ 的目标：无损压缩既省空间，又能在 GPU 上加速。</a:t>
            </a:r>
          </a:p>
        </p:txBody>
      </p:sp>
    </p:spTree>
    <p:extLst>
      <p:ext uri="{BB962C8B-B14F-4D97-AF65-F5344CB8AC3E}">
        <p14:creationId xmlns:p14="http://schemas.microsoft.com/office/powerpoint/2010/main" val="133092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2B17AEE-02F3-4AF1-8A21-604B2DA2472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11111"/>
                </a:solidFill>
              </a:defRPr>
            </a:pPr>
            <a:r>
              <a:rPr sz="2800"/>
              <a:t>ZipServ 为什么不是普通压缩算法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F6A0EB-821F-4B59-A231-8F4F80DB4464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这些概念决定了 ZipServ 为什么不是普通压缩算法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043E71-F959-49A0-B8D3-663A38EA8A1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E06116-B030-447C-961E-1478EC8BEC8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673B36-80E4-416A-A357-30727D65AC5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ED30A2-904B-4B0F-AC39-093B2C299DBE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953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578290-10E4-40BB-8AB6-5E25C3C2B86A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461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Token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370E9E-FF88-47F6-B01A-7D877D089254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模型处理和生成文本的基本单位。实验里的 N 可以近似理解为一次矩阵乘法中的 token/batch 维度。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080BF2-F768-4E57-B128-A524E441A7D2}"/>
              </a:ext>
            </a:extLst>
          </p:cNvPr>
          <p:cNvSpPr>
            <a:spLocks noGrp="1"/>
          </p:cNvSpPr>
          <p:nvPr/>
        </p:nvSpPr>
        <p:spPr>
          <a:xfrm>
            <a:off x="6515100" y="1714500"/>
            <a:ext cx="4953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669275-E37A-449D-9B49-1AD574CB910E}"/>
              </a:ext>
            </a:extLst>
          </p:cNvPr>
          <p:cNvSpPr>
            <a:spLocks noGrp="1"/>
          </p:cNvSpPr>
          <p:nvPr/>
        </p:nvSpPr>
        <p:spPr>
          <a:xfrm>
            <a:off x="6686550" y="1885950"/>
            <a:ext cx="461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BF16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E44AA9-B041-4C7A-8D09-8C98D8817949}"/>
              </a:ext>
            </a:extLst>
          </p:cNvPr>
          <p:cNvSpPr>
            <a:spLocks noGrp="1"/>
          </p:cNvSpPr>
          <p:nvPr/>
        </p:nvSpPr>
        <p:spPr>
          <a:xfrm>
            <a:off x="6686550" y="2305050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一种 16 位浮点格式，包含 sign、exponent、mantissa。ZipServ 主要利用 exponent 分布集中这一冗余。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C08CA0-DCAF-44F3-AA27-D14B7DAB5B98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4953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AFA7D3-1BF5-489C-8597-6F887856B743}"/>
              </a:ext>
            </a:extLst>
          </p:cNvPr>
          <p:cNvSpPr>
            <a:spLocks noGrp="1"/>
          </p:cNvSpPr>
          <p:nvPr/>
        </p:nvSpPr>
        <p:spPr>
          <a:xfrm>
            <a:off x="895350" y="3838575"/>
            <a:ext cx="461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Tensor Core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261D67-1748-4E48-9265-B28720739863}"/>
              </a:ext>
            </a:extLst>
          </p:cNvPr>
          <p:cNvSpPr>
            <a:spLocks noGrp="1"/>
          </p:cNvSpPr>
          <p:nvPr/>
        </p:nvSpPr>
        <p:spPr>
          <a:xfrm>
            <a:off x="895350" y="4257675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NVIDIA GPU 中专门加速矩阵乘法的硬件单元。ZipGEMM 要让解压结果直接进入这条计算路径。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66645E-4D5C-4A55-B092-E5E46D39B00C}"/>
              </a:ext>
            </a:extLst>
          </p:cNvPr>
          <p:cNvSpPr>
            <a:spLocks noGrp="1"/>
          </p:cNvSpPr>
          <p:nvPr/>
        </p:nvSpPr>
        <p:spPr>
          <a:xfrm>
            <a:off x="6515100" y="3667125"/>
            <a:ext cx="4953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CDA905-2910-4F55-BEC1-7357EF71465A}"/>
              </a:ext>
            </a:extLst>
          </p:cNvPr>
          <p:cNvSpPr>
            <a:spLocks noGrp="1"/>
          </p:cNvSpPr>
          <p:nvPr/>
        </p:nvSpPr>
        <p:spPr>
          <a:xfrm>
            <a:off x="6686550" y="3838575"/>
            <a:ext cx="461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SIMT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354BDC-8DCC-4C5C-8A12-50BC18A6170C}"/>
              </a:ext>
            </a:extLst>
          </p:cNvPr>
          <p:cNvSpPr>
            <a:spLocks noGrp="1"/>
          </p:cNvSpPr>
          <p:nvPr/>
        </p:nvSpPr>
        <p:spPr>
          <a:xfrm>
            <a:off x="6686550" y="4257675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GPU 一个 warp 内多线程执行同一指令。变长编码会造成分支和串行依赖，固定 bitmap 更适合并行。</a:t>
            </a:r>
          </a:p>
        </p:txBody>
      </p:sp>
    </p:spTree>
    <p:extLst>
      <p:ext uri="{BB962C8B-B14F-4D97-AF65-F5344CB8AC3E}">
        <p14:creationId xmlns:p14="http://schemas.microsoft.com/office/powerpoint/2010/main" val="158288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C184FC3-A83F-4181-9E1E-D170E9A42AD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LLM 推理分成 prefill 和 decode，两阶段瓶颈不同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F168C5-D0EF-4825-9BFC-3CF54D00028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FA848F-96F8-4B69-B3E1-B7B08A84D1B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91848-EE13-465A-A589-D97353F5C57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5ECDCE-315F-4F54-A2D7-A0E1558B6112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4953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781559-1F15-435E-8B3D-369406E325F9}"/>
              </a:ext>
            </a:extLst>
          </p:cNvPr>
          <p:cNvSpPr>
            <a:spLocks noGrp="1"/>
          </p:cNvSpPr>
          <p:nvPr/>
        </p:nvSpPr>
        <p:spPr>
          <a:xfrm>
            <a:off x="6496050" y="1762125"/>
            <a:ext cx="4953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BAFDFA-2300-4B0E-8ABD-16B306B68403}"/>
              </a:ext>
            </a:extLst>
          </p:cNvPr>
          <p:cNvSpPr>
            <a:spLocks noGrp="1"/>
          </p:cNvSpPr>
          <p:nvPr/>
        </p:nvSpPr>
        <p:spPr>
          <a:xfrm>
            <a:off x="1028700" y="20669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Prefill 阶段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D156B2-9134-47E4-9DC9-01FBF6DE9943}"/>
              </a:ext>
            </a:extLst>
          </p:cNvPr>
          <p:cNvSpPr>
            <a:spLocks noGrp="1"/>
          </p:cNvSpPr>
          <p:nvPr/>
        </p:nvSpPr>
        <p:spPr>
          <a:xfrm>
            <a:off x="1047750" y="2638425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处理输入 prompt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一次并行处理很多 token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计算密度高，更偏 compute-bound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decoupled 解压 + 高吞吐 GEMM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A4A23A-A370-4DD7-BEAF-9730D5376939}"/>
              </a:ext>
            </a:extLst>
          </p:cNvPr>
          <p:cNvSpPr>
            <a:spLocks noGrp="1"/>
          </p:cNvSpPr>
          <p:nvPr/>
        </p:nvSpPr>
        <p:spPr>
          <a:xfrm>
            <a:off x="6781800" y="20669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Decode 阶段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852250-A3E2-4BE8-89CE-AA1BDAB38BC1}"/>
              </a:ext>
            </a:extLst>
          </p:cNvPr>
          <p:cNvSpPr>
            <a:spLocks noGrp="1"/>
          </p:cNvSpPr>
          <p:nvPr/>
        </p:nvSpPr>
        <p:spPr>
          <a:xfrm>
            <a:off x="6800850" y="2638425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逐 token 生成输出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每步矩阵较小，读取权重更频繁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更容易 memory-bound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fused ZipGEMM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7321FB-B9AF-42BB-B2CD-822C6FF00A42}"/>
              </a:ext>
            </a:extLst>
          </p:cNvPr>
          <p:cNvSpPr>
            <a:spLocks noGrp="1"/>
          </p:cNvSpPr>
          <p:nvPr/>
        </p:nvSpPr>
        <p:spPr>
          <a:xfrm>
            <a:off x="895350" y="54292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这里的 compute-bound 指算力更紧张；memory-bound 指显存带宽更紧张。ZipServ 主要想解决后者。</a:t>
            </a:r>
          </a:p>
        </p:txBody>
      </p:sp>
    </p:spTree>
    <p:extLst>
      <p:ext uri="{BB962C8B-B14F-4D97-AF65-F5344CB8AC3E}">
        <p14:creationId xmlns:p14="http://schemas.microsoft.com/office/powerpoint/2010/main" val="78210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81B0F5D-FD68-4D75-A4F1-E4F0F3F0FA9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 dirty="0" err="1">
                <a:solidFill>
                  <a:srgbClr val="111111"/>
                </a:solidFill>
              </a:rPr>
              <a:t>原论文的动机：传统无损压缩和</a:t>
            </a:r>
            <a:r>
              <a:rPr sz="2700" b="1" dirty="0">
                <a:solidFill>
                  <a:srgbClr val="111111"/>
                </a:solidFill>
              </a:rPr>
              <a:t> GPU </a:t>
            </a:r>
            <a:r>
              <a:rPr sz="2700" b="1" dirty="0" err="1">
                <a:solidFill>
                  <a:srgbClr val="111111"/>
                </a:solidFill>
              </a:rPr>
              <a:t>推理不匹配</a:t>
            </a:r>
            <a:endParaRPr sz="2700" b="1" dirty="0">
              <a:solidFill>
                <a:srgbClr val="11111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70DD6B-8E9A-4BA2-838F-5F93411ABD7E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压缩格式如果适合存储但不适合 GPU 解码，就很难加速推理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6502CC-0440-452E-876C-F42DF0B6F27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1779FA-59B3-4C95-A204-EBA860BF570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199E6-A5CC-41DC-B38E-4D654D1C327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3BE89A-2825-4403-A0A9-D10DFDFCB012}"/>
              </a:ext>
            </a:extLst>
          </p:cNvPr>
          <p:cNvSpPr>
            <a:spLocks noGrp="1"/>
          </p:cNvSpPr>
          <p:nvPr/>
        </p:nvSpPr>
        <p:spPr>
          <a:xfrm>
            <a:off x="714375" y="1762125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A27E64-621B-4CCD-A70E-C1C7A6FD5B7A}"/>
              </a:ext>
            </a:extLst>
          </p:cNvPr>
          <p:cNvSpPr>
            <a:spLocks noGrp="1"/>
          </p:cNvSpPr>
          <p:nvPr/>
        </p:nvSpPr>
        <p:spPr>
          <a:xfrm>
            <a:off x="752475" y="4029075"/>
            <a:ext cx="3143250" cy="1845611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7874BA-3CE1-41A3-BE66-D0D699F98B63}"/>
              </a:ext>
            </a:extLst>
          </p:cNvPr>
          <p:cNvSpPr>
            <a:spLocks noGrp="1"/>
          </p:cNvSpPr>
          <p:nvPr/>
        </p:nvSpPr>
        <p:spPr>
          <a:xfrm>
            <a:off x="904875" y="193357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9B1C1C"/>
                </a:solidFill>
              </a:defRPr>
            </a:pPr>
            <a:r>
              <a:rPr sz="1875" b="1" dirty="0" err="1">
                <a:solidFill>
                  <a:srgbClr val="9B1C1C"/>
                </a:solidFill>
              </a:rPr>
              <a:t>变量长编码</a:t>
            </a:r>
            <a:endParaRPr sz="1875" b="1" dirty="0">
              <a:solidFill>
                <a:srgbClr val="9B1C1C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CE6A55-B41B-4F0C-9BAA-64803B44DF3A}"/>
              </a:ext>
            </a:extLst>
          </p:cNvPr>
          <p:cNvSpPr>
            <a:spLocks noGrp="1"/>
          </p:cNvSpPr>
          <p:nvPr/>
        </p:nvSpPr>
        <p:spPr>
          <a:xfrm>
            <a:off x="904875" y="2352675"/>
            <a:ext cx="2333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• Huffman/ANS </a:t>
            </a:r>
            <a:r>
              <a:rPr sz="1500" b="0" dirty="0" err="1">
                <a:solidFill>
                  <a:srgbClr val="111111"/>
                </a:solidFill>
              </a:rPr>
              <a:t>符号长度不同</a:t>
            </a:r>
            <a:endParaRPr sz="1500" b="0" dirty="0">
              <a:solidFill>
                <a:srgbClr val="111111"/>
              </a:solidFill>
            </a:endParaRP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• </a:t>
            </a:r>
            <a:r>
              <a:rPr sz="1500" b="0" dirty="0" err="1">
                <a:solidFill>
                  <a:srgbClr val="111111"/>
                </a:solidFill>
              </a:rPr>
              <a:t>线程无法完全独立推进</a:t>
            </a:r>
            <a:endParaRPr sz="1500" b="0" dirty="0">
              <a:solidFill>
                <a:srgbClr val="111111"/>
              </a:solidFill>
            </a:endParaRP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• warp </a:t>
            </a:r>
            <a:r>
              <a:rPr sz="1500" b="0" dirty="0" err="1">
                <a:solidFill>
                  <a:srgbClr val="111111"/>
                </a:solidFill>
              </a:rPr>
              <a:t>内分支和串行依赖增加</a:t>
            </a:r>
            <a:endParaRPr sz="1500" b="0" dirty="0">
              <a:solidFill>
                <a:srgbClr val="11111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5CB8DF-9D61-4AE4-94FA-54813F4AF251}"/>
              </a:ext>
            </a:extLst>
          </p:cNvPr>
          <p:cNvSpPr>
            <a:spLocks noGrp="1"/>
          </p:cNvSpPr>
          <p:nvPr/>
        </p:nvSpPr>
        <p:spPr>
          <a:xfrm>
            <a:off x="904875" y="4146737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9B1C1C"/>
                </a:solidFill>
              </a:defRPr>
            </a:pPr>
            <a:r>
              <a:rPr sz="1875" b="1" dirty="0" err="1">
                <a:solidFill>
                  <a:srgbClr val="9B1C1C"/>
                </a:solidFill>
              </a:rPr>
              <a:t>解压和</a:t>
            </a:r>
            <a:r>
              <a:rPr sz="1875" b="1" dirty="0">
                <a:solidFill>
                  <a:srgbClr val="9B1C1C"/>
                </a:solidFill>
              </a:rPr>
              <a:t> GEMM </a:t>
            </a:r>
            <a:r>
              <a:rPr sz="1875" b="1" dirty="0" err="1">
                <a:solidFill>
                  <a:srgbClr val="9B1C1C"/>
                </a:solidFill>
              </a:rPr>
              <a:t>分离</a:t>
            </a:r>
            <a:endParaRPr sz="1875" b="1" dirty="0">
              <a:solidFill>
                <a:srgbClr val="9B1C1C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72D6F6-817C-4EC7-B78C-F20C4454C8C2}"/>
              </a:ext>
            </a:extLst>
          </p:cNvPr>
          <p:cNvSpPr>
            <a:spLocks noGrp="1"/>
          </p:cNvSpPr>
          <p:nvPr/>
        </p:nvSpPr>
        <p:spPr>
          <a:xfrm>
            <a:off x="904874" y="4533900"/>
            <a:ext cx="2333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• </a:t>
            </a:r>
            <a:r>
              <a:rPr sz="1500" b="0" dirty="0" err="1">
                <a:solidFill>
                  <a:srgbClr val="111111"/>
                </a:solidFill>
              </a:rPr>
              <a:t>先解压到</a:t>
            </a:r>
            <a:r>
              <a:rPr sz="1500" b="0" dirty="0">
                <a:solidFill>
                  <a:srgbClr val="111111"/>
                </a:solidFill>
              </a:rPr>
              <a:t> global memory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• </a:t>
            </a:r>
            <a:r>
              <a:rPr sz="1500" b="0" dirty="0" err="1">
                <a:solidFill>
                  <a:srgbClr val="111111"/>
                </a:solidFill>
              </a:rPr>
              <a:t>再由</a:t>
            </a:r>
            <a:r>
              <a:rPr sz="1500" b="0" dirty="0">
                <a:solidFill>
                  <a:srgbClr val="111111"/>
                </a:solidFill>
              </a:rPr>
              <a:t> GEMM </a:t>
            </a:r>
            <a:r>
              <a:rPr sz="1500" b="0" dirty="0" err="1">
                <a:solidFill>
                  <a:srgbClr val="111111"/>
                </a:solidFill>
              </a:rPr>
              <a:t>读取完整权重</a:t>
            </a:r>
            <a:endParaRPr sz="1500" b="0" dirty="0">
              <a:solidFill>
                <a:srgbClr val="111111"/>
              </a:solidFill>
            </a:endParaRP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• </a:t>
            </a:r>
            <a:r>
              <a:rPr sz="1500" b="0" dirty="0" err="1">
                <a:solidFill>
                  <a:srgbClr val="111111"/>
                </a:solidFill>
              </a:rPr>
              <a:t>额外</a:t>
            </a:r>
            <a:r>
              <a:rPr sz="1500" b="0" dirty="0">
                <a:solidFill>
                  <a:srgbClr val="111111"/>
                </a:solidFill>
              </a:rPr>
              <a:t> memory traffic </a:t>
            </a:r>
            <a:r>
              <a:rPr sz="1500" b="0" dirty="0" err="1">
                <a:solidFill>
                  <a:srgbClr val="111111"/>
                </a:solidFill>
              </a:rPr>
              <a:t>抵消收益</a:t>
            </a:r>
            <a:endParaRPr sz="1500" b="0" dirty="0">
              <a:solidFill>
                <a:srgbClr val="11111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D150C5-4C47-48E3-A84D-EC30929E8281}"/>
              </a:ext>
            </a:extLst>
          </p:cNvPr>
          <p:cNvSpPr>
            <a:spLocks noGrp="1"/>
          </p:cNvSpPr>
          <p:nvPr/>
        </p:nvSpPr>
        <p:spPr>
          <a:xfrm>
            <a:off x="5094534" y="4916998"/>
            <a:ext cx="5150784" cy="818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lang="en-US" altLang="zh-CN" sz="1500" b="0" dirty="0">
                <a:solidFill>
                  <a:srgbClr val="111111"/>
                </a:solidFill>
              </a:rPr>
              <a:t>Figure1</a:t>
            </a:r>
            <a:r>
              <a:rPr lang="zh-CN" altLang="en-US" sz="1500" b="0" dirty="0">
                <a:solidFill>
                  <a:srgbClr val="111111"/>
                </a:solidFill>
              </a:rPr>
              <a:t>体现</a:t>
            </a:r>
            <a:r>
              <a:rPr sz="1500" b="0" dirty="0">
                <a:solidFill>
                  <a:srgbClr val="111111"/>
                </a:solidFill>
              </a:rPr>
              <a:t>decoupled </a:t>
            </a:r>
            <a:r>
              <a:rPr sz="1500" b="0" dirty="0" err="1">
                <a:solidFill>
                  <a:srgbClr val="111111"/>
                </a:solidFill>
              </a:rPr>
              <a:t>解压耗时可达核心计算的</a:t>
            </a:r>
            <a:r>
              <a:rPr sz="1500" b="0" dirty="0">
                <a:solidFill>
                  <a:srgbClr val="111111"/>
                </a:solidFill>
              </a:rPr>
              <a:t> 1.56-3.44x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lang="zh-CN" altLang="en-US" sz="1500" b="0" dirty="0">
                <a:solidFill>
                  <a:srgbClr val="111111"/>
                </a:solidFill>
              </a:rPr>
              <a:t>传统</a:t>
            </a:r>
            <a:r>
              <a:rPr sz="1500" b="0" dirty="0" err="1">
                <a:solidFill>
                  <a:srgbClr val="111111"/>
                </a:solidFill>
              </a:rPr>
              <a:t>无损压缩实现方式不适合</a:t>
            </a:r>
            <a:r>
              <a:rPr sz="1500" b="0" dirty="0">
                <a:solidFill>
                  <a:srgbClr val="111111"/>
                </a:solidFill>
              </a:rPr>
              <a:t> GPU</a:t>
            </a:r>
            <a:r>
              <a:rPr lang="zh-CN" altLang="en-US" sz="1500" b="0" dirty="0">
                <a:solidFill>
                  <a:srgbClr val="111111"/>
                </a:solidFill>
              </a:rPr>
              <a:t>，而</a:t>
            </a:r>
            <a:r>
              <a:rPr lang="en-US" altLang="zh-CN" sz="1500" b="0" dirty="0" err="1">
                <a:solidFill>
                  <a:srgbClr val="111111"/>
                </a:solidFill>
              </a:rPr>
              <a:t>zipserv</a:t>
            </a:r>
            <a:r>
              <a:rPr lang="zh-CN" altLang="en-US" sz="1500" b="0" dirty="0">
                <a:solidFill>
                  <a:srgbClr val="111111"/>
                </a:solidFill>
              </a:rPr>
              <a:t>能做到解压耗时小于</a:t>
            </a:r>
            <a:r>
              <a:rPr lang="en-US" altLang="zh-CN" sz="1500" b="0" dirty="0">
                <a:solidFill>
                  <a:srgbClr val="111111"/>
                </a:solidFill>
              </a:rPr>
              <a:t>1</a:t>
            </a:r>
            <a:endParaRPr sz="1500" b="0" dirty="0">
              <a:solidFill>
                <a:srgbClr val="111111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30FAAEE-639F-B40A-C276-56FAD920E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203" y="1545708"/>
            <a:ext cx="5729447" cy="318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7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86EA9-0D58-2B43-788E-33F1EB1FD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4FCB9A-CA1F-47B4-141F-F7061B31128D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lang="zh-CN" altLang="en-US" sz="2250" b="1" dirty="0">
                <a:solidFill>
                  <a:srgbClr val="111827"/>
                </a:solidFill>
              </a:rPr>
              <a:t>关键发现：</a:t>
            </a:r>
            <a:r>
              <a:rPr lang="en-US" altLang="zh-CN" sz="2250" b="1" dirty="0">
                <a:solidFill>
                  <a:srgbClr val="111827"/>
                </a:solidFill>
              </a:rPr>
              <a:t>BF16 exponent </a:t>
            </a:r>
            <a:r>
              <a:rPr lang="zh-CN" altLang="en-US" sz="2250" b="1" dirty="0">
                <a:solidFill>
                  <a:srgbClr val="111827"/>
                </a:solidFill>
              </a:rPr>
              <a:t>存在明显统计冗余</a:t>
            </a:r>
            <a:endParaRPr sz="2250" b="1" dirty="0">
              <a:solidFill>
                <a:srgbClr val="111827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4DDAA1-15F1-7201-ADE8-94877999F641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8B68F6-22AD-BD51-0C07-B82ECF4E8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818" y="1167197"/>
            <a:ext cx="6170134" cy="51293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AE8CCA4-D08D-9E2F-49F7-8DD1E731A15B}"/>
              </a:ext>
            </a:extLst>
          </p:cNvPr>
          <p:cNvSpPr txBox="1"/>
          <p:nvPr/>
        </p:nvSpPr>
        <p:spPr>
          <a:xfrm>
            <a:off x="826995" y="2459504"/>
            <a:ext cx="317350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11111"/>
                </a:solidFill>
              </a:rPr>
              <a:t>论文观察到，不同 </a:t>
            </a:r>
            <a:r>
              <a:rPr lang="en-US" altLang="zh-CN" sz="1600" dirty="0">
                <a:solidFill>
                  <a:srgbClr val="111111"/>
                </a:solidFill>
              </a:rPr>
              <a:t>LLM </a:t>
            </a:r>
            <a:r>
              <a:rPr lang="zh-CN" altLang="en-US" sz="1600" dirty="0">
                <a:solidFill>
                  <a:srgbClr val="111111"/>
                </a:solidFill>
              </a:rPr>
              <a:t>权重的 </a:t>
            </a:r>
            <a:r>
              <a:rPr lang="en-US" altLang="zh-CN" sz="1600" dirty="0">
                <a:solidFill>
                  <a:srgbClr val="111111"/>
                </a:solidFill>
              </a:rPr>
              <a:t>exponent </a:t>
            </a:r>
            <a:r>
              <a:rPr lang="zh-CN" altLang="en-US" sz="1600" dirty="0">
                <a:solidFill>
                  <a:srgbClr val="111111"/>
                </a:solidFill>
              </a:rPr>
              <a:t>并不是均匀分布，而是集中在少数几个高频值附近。</a:t>
            </a:r>
          </a:p>
          <a:p>
            <a:endParaRPr lang="zh-CN" altLang="en-US" sz="1600" dirty="0">
              <a:solidFill>
                <a:srgbClr val="111111"/>
              </a:solidFill>
            </a:endParaRPr>
          </a:p>
          <a:p>
            <a:r>
              <a:rPr lang="en-US" altLang="zh-CN" sz="1600" dirty="0">
                <a:solidFill>
                  <a:srgbClr val="111111"/>
                </a:solidFill>
              </a:rPr>
              <a:t>Top-7 exponent </a:t>
            </a:r>
            <a:r>
              <a:rPr lang="zh-CN" altLang="en-US" sz="1600" dirty="0">
                <a:solidFill>
                  <a:srgbClr val="111111"/>
                </a:solidFill>
              </a:rPr>
              <a:t>可以覆盖约 </a:t>
            </a:r>
            <a:r>
              <a:rPr lang="en-US" altLang="zh-CN" sz="1600" dirty="0">
                <a:solidFill>
                  <a:srgbClr val="111111"/>
                </a:solidFill>
              </a:rPr>
              <a:t>95% </a:t>
            </a:r>
            <a:r>
              <a:rPr lang="zh-CN" altLang="en-US" sz="1600" dirty="0">
                <a:solidFill>
                  <a:srgbClr val="111111"/>
                </a:solidFill>
              </a:rPr>
              <a:t>以上权重，</a:t>
            </a:r>
            <a:r>
              <a:rPr lang="en-US" altLang="zh-CN" sz="1600" dirty="0">
                <a:solidFill>
                  <a:srgbClr val="111111"/>
                </a:solidFill>
              </a:rPr>
              <a:t>Top-3 </a:t>
            </a:r>
            <a:r>
              <a:rPr lang="zh-CN" altLang="en-US" sz="1600" dirty="0">
                <a:solidFill>
                  <a:srgbClr val="111111"/>
                </a:solidFill>
              </a:rPr>
              <a:t>也能覆盖约 </a:t>
            </a:r>
            <a:r>
              <a:rPr lang="en-US" altLang="zh-CN" sz="1600" dirty="0">
                <a:solidFill>
                  <a:srgbClr val="111111"/>
                </a:solidFill>
              </a:rPr>
              <a:t>68% </a:t>
            </a:r>
            <a:r>
              <a:rPr lang="zh-CN" altLang="en-US" sz="1600" dirty="0">
                <a:solidFill>
                  <a:srgbClr val="111111"/>
                </a:solidFill>
              </a:rPr>
              <a:t>到 </a:t>
            </a:r>
            <a:r>
              <a:rPr lang="en-US" altLang="zh-CN" sz="1600" dirty="0">
                <a:solidFill>
                  <a:srgbClr val="111111"/>
                </a:solidFill>
              </a:rPr>
              <a:t>75%</a:t>
            </a:r>
            <a:r>
              <a:rPr lang="zh-CN" altLang="en-US" sz="1600" dirty="0">
                <a:solidFill>
                  <a:srgbClr val="111111"/>
                </a:solidFill>
              </a:rPr>
              <a:t>。因此 </a:t>
            </a:r>
            <a:r>
              <a:rPr lang="en-US" altLang="zh-CN" sz="1600" dirty="0" err="1">
                <a:solidFill>
                  <a:srgbClr val="111111"/>
                </a:solidFill>
              </a:rPr>
              <a:t>ZipServ</a:t>
            </a:r>
            <a:r>
              <a:rPr lang="en-US" altLang="zh-CN" sz="1600" dirty="0">
                <a:solidFill>
                  <a:srgbClr val="111111"/>
                </a:solidFill>
              </a:rPr>
              <a:t> </a:t>
            </a:r>
            <a:r>
              <a:rPr lang="zh-CN" altLang="en-US" sz="1600" dirty="0">
                <a:solidFill>
                  <a:srgbClr val="111111"/>
                </a:solidFill>
              </a:rPr>
              <a:t>不需要为每个 </a:t>
            </a:r>
            <a:r>
              <a:rPr lang="en-US" altLang="zh-CN" sz="1600" dirty="0">
                <a:solidFill>
                  <a:srgbClr val="111111"/>
                </a:solidFill>
              </a:rPr>
              <a:t>BF16 </a:t>
            </a:r>
            <a:r>
              <a:rPr lang="zh-CN" altLang="en-US" sz="1600" dirty="0">
                <a:solidFill>
                  <a:srgbClr val="111111"/>
                </a:solidFill>
              </a:rPr>
              <a:t>权重完整保存 </a:t>
            </a:r>
            <a:r>
              <a:rPr lang="en-US" altLang="zh-CN" sz="1600" dirty="0">
                <a:solidFill>
                  <a:srgbClr val="111111"/>
                </a:solidFill>
              </a:rPr>
              <a:t>8-bit exponent</a:t>
            </a:r>
            <a:r>
              <a:rPr lang="zh-CN" altLang="en-US" sz="1600" dirty="0">
                <a:solidFill>
                  <a:srgbClr val="111111"/>
                </a:solidFill>
              </a:rPr>
              <a:t>，而是用 </a:t>
            </a:r>
            <a:r>
              <a:rPr lang="en-US" altLang="zh-CN" sz="1600" dirty="0">
                <a:solidFill>
                  <a:srgbClr val="111111"/>
                </a:solidFill>
              </a:rPr>
              <a:t>base exponent + 3-bit offset </a:t>
            </a:r>
            <a:r>
              <a:rPr lang="zh-CN" altLang="en-US" sz="1600" dirty="0">
                <a:solidFill>
                  <a:srgbClr val="111111"/>
                </a:solidFill>
              </a:rPr>
              <a:t>表示高频 </a:t>
            </a:r>
            <a:r>
              <a:rPr lang="en-US" altLang="zh-CN" sz="1600" dirty="0">
                <a:solidFill>
                  <a:srgbClr val="111111"/>
                </a:solidFill>
              </a:rPr>
              <a:t>exponent</a:t>
            </a:r>
            <a:r>
              <a:rPr lang="zh-CN" altLang="en-US" sz="1600" dirty="0">
                <a:solidFill>
                  <a:srgbClr val="111111"/>
                </a:solidFill>
              </a:rPr>
              <a:t>，其余少数值走 </a:t>
            </a:r>
            <a:r>
              <a:rPr lang="en-US" altLang="zh-CN" sz="1600" dirty="0">
                <a:solidFill>
                  <a:srgbClr val="111111"/>
                </a:solidFill>
              </a:rPr>
              <a:t>fallback</a:t>
            </a:r>
            <a:r>
              <a:rPr lang="zh-CN" altLang="en-US" sz="1600" dirty="0">
                <a:solidFill>
                  <a:srgbClr val="11111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9134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4E3918A-5605-414C-B098-FE5DDAAED61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ZipServ 的核心答案：TCA-TBE + ZipGEMM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6CBAF9-7FD1-4186-BAB6-40D01B8054D5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把压缩格式和 GPU 执行模型一起设计，而不是先压缩再硬接入推理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BC8483-7E2C-4016-908F-4BEC041A2A0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7CEF5F-7AD5-4E94-B24A-8FE1BEFBE29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DB8A47-E1A3-47AA-85E6-98F70D848D2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949AF-CEEC-417D-9BD3-84E9A8BD519E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762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450A09-45F9-4985-AB40-68113EA02CC0}"/>
              </a:ext>
            </a:extLst>
          </p:cNvPr>
          <p:cNvSpPr>
            <a:spLocks noGrp="1"/>
          </p:cNvSpPr>
          <p:nvPr/>
        </p:nvSpPr>
        <p:spPr>
          <a:xfrm>
            <a:off x="4714875" y="1809750"/>
            <a:ext cx="2762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0E3B96-14F9-46FC-8045-7D6B6816CA83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762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A4B2F0-0A77-41C0-A376-24A0E1054174}"/>
              </a:ext>
            </a:extLst>
          </p:cNvPr>
          <p:cNvSpPr>
            <a:spLocks noGrp="1"/>
          </p:cNvSpPr>
          <p:nvPr/>
        </p:nvSpPr>
        <p:spPr>
          <a:xfrm>
            <a:off x="1181100" y="21907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TCA-TBE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6E7C6-D561-41B8-A883-2DE9E886897C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固定长度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triple bitmap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常数时间并行解码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E35ECB-98F0-4DF2-A137-384CB6AED007}"/>
              </a:ext>
            </a:extLst>
          </p:cNvPr>
          <p:cNvSpPr>
            <a:spLocks noGrp="1"/>
          </p:cNvSpPr>
          <p:nvPr/>
        </p:nvSpPr>
        <p:spPr>
          <a:xfrm>
            <a:off x="5038725" y="21907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ZipGEMM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F603C0-7A51-4606-BE88-86CDF2065E33}"/>
              </a:ext>
            </a:extLst>
          </p:cNvPr>
          <p:cNvSpPr>
            <a:spLocks noGrp="1"/>
          </p:cNvSpPr>
          <p:nvPr/>
        </p:nvSpPr>
        <p:spPr>
          <a:xfrm>
            <a:off x="5000625" y="285750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边读压缩权重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边在寄存器中恢复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直接进入 Tensor Core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B4A0C2-5C9A-4173-B887-3A8BE8BBA9B1}"/>
              </a:ext>
            </a:extLst>
          </p:cNvPr>
          <p:cNvSpPr>
            <a:spLocks noGrp="1"/>
          </p:cNvSpPr>
          <p:nvPr/>
        </p:nvSpPr>
        <p:spPr>
          <a:xfrm>
            <a:off x="8896350" y="21907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Stage-aware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744C0-6516-4030-8EFB-94B2B94F7280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prefill 用 decoupled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decode 用 fused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按阶段选择最合适路径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E9067C-3712-49F9-A699-0ECDD49F24AE}"/>
              </a:ext>
            </a:extLst>
          </p:cNvPr>
          <p:cNvSpPr>
            <a:spLocks noGrp="1"/>
          </p:cNvSpPr>
          <p:nvPr/>
        </p:nvSpPr>
        <p:spPr>
          <a:xfrm>
            <a:off x="2428875" y="509587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D7F5F"/>
                </a:solidFill>
              </a:defRPr>
            </a:pPr>
            <a:r>
              <a:rPr sz="2250" b="1">
                <a:solidFill>
                  <a:srgbClr val="1D7F5F"/>
                </a:solidFill>
              </a:rPr>
              <a:t>load-compressed, compute-decompressed.</a:t>
            </a:r>
          </a:p>
        </p:txBody>
      </p:sp>
    </p:spTree>
    <p:extLst>
      <p:ext uri="{BB962C8B-B14F-4D97-AF65-F5344CB8AC3E}">
        <p14:creationId xmlns:p14="http://schemas.microsoft.com/office/powerpoint/2010/main" val="1479421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D7773B3-1C44-465F-98EC-D491AF75164E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 dirty="0" err="1">
                <a:solidFill>
                  <a:srgbClr val="111827"/>
                </a:solidFill>
              </a:rPr>
              <a:t>原论文</a:t>
            </a:r>
            <a:r>
              <a:rPr sz="2250" b="1" dirty="0">
                <a:solidFill>
                  <a:srgbClr val="111827"/>
                </a:solidFill>
              </a:rPr>
              <a:t> </a:t>
            </a:r>
            <a:r>
              <a:rPr sz="2250" b="1" dirty="0" err="1">
                <a:solidFill>
                  <a:srgbClr val="111827"/>
                </a:solidFill>
              </a:rPr>
              <a:t>ZipServ</a:t>
            </a:r>
            <a:r>
              <a:rPr sz="2250" b="1" dirty="0">
                <a:solidFill>
                  <a:srgbClr val="111827"/>
                </a:solidFill>
              </a:rPr>
              <a:t> </a:t>
            </a:r>
            <a:r>
              <a:rPr sz="2250" b="1" dirty="0" err="1">
                <a:solidFill>
                  <a:srgbClr val="111827"/>
                </a:solidFill>
              </a:rPr>
              <a:t>系统总览</a:t>
            </a:r>
            <a:endParaRPr sz="2250" b="1" dirty="0">
              <a:solidFill>
                <a:srgbClr val="111827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58F6A1-0A83-4735-85D3-13BBB4B01909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6610F8-ACA1-9A2E-6FB2-8DF93007FDD3}"/>
              </a:ext>
            </a:extLst>
          </p:cNvPr>
          <p:cNvSpPr txBox="1"/>
          <p:nvPr/>
        </p:nvSpPr>
        <p:spPr>
          <a:xfrm>
            <a:off x="786653" y="4247716"/>
            <a:ext cx="11472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图示流程：</a:t>
            </a:r>
            <a:endParaRPr lang="en-US" altLang="zh-CN" dirty="0"/>
          </a:p>
          <a:p>
            <a:r>
              <a:rPr lang="en-US" altLang="zh-CN" dirty="0"/>
              <a:t>Transformer </a:t>
            </a:r>
            <a:r>
              <a:rPr lang="zh-CN" altLang="en-US" dirty="0"/>
              <a:t>权重层 → 离线分析 </a:t>
            </a:r>
            <a:r>
              <a:rPr lang="en-US" altLang="zh-CN" dirty="0"/>
              <a:t>BF16 exponent </a:t>
            </a:r>
            <a:r>
              <a:rPr lang="zh-CN" altLang="en-US" dirty="0"/>
              <a:t>分布 → </a:t>
            </a:r>
            <a:r>
              <a:rPr lang="en-US" altLang="zh-CN" dirty="0"/>
              <a:t>TCA-TBE </a:t>
            </a:r>
            <a:r>
              <a:rPr lang="zh-CN" altLang="en-US" dirty="0"/>
              <a:t>无损压缩权重 → 在线推理中边解压边 </a:t>
            </a:r>
            <a:r>
              <a:rPr lang="en-US" altLang="zh-CN" dirty="0"/>
              <a:t>GEMM </a:t>
            </a:r>
            <a:r>
              <a:rPr lang="zh-CN" altLang="en-US" dirty="0"/>
              <a:t>计算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核心流程：离线压缩模型权重，在线推理阶段直接读取压缩权重，并在矩阵乘法前即时解压送入 </a:t>
            </a:r>
            <a:r>
              <a:rPr lang="en-US" altLang="zh-CN" dirty="0"/>
              <a:t>Tensor Core</a:t>
            </a:r>
            <a:r>
              <a:rPr lang="zh-CN" altLang="en-US" dirty="0"/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D607511-B43E-D898-3EFA-8FBA2F0DA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9" y="727495"/>
            <a:ext cx="11093620" cy="361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8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897DE69-9C9D-4A91-A929-F7B6BBD34BC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 dirty="0" err="1">
                <a:solidFill>
                  <a:srgbClr val="111827"/>
                </a:solidFill>
              </a:rPr>
              <a:t>原论文</a:t>
            </a:r>
            <a:r>
              <a:rPr sz="2250" b="1" dirty="0">
                <a:solidFill>
                  <a:srgbClr val="111827"/>
                </a:solidFill>
              </a:rPr>
              <a:t> Figure 7：Tensor-Core-Aware Triple Bitmap Encoding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7B94D0C-7EED-4C19-ADFB-64A52D7B0C91}"/>
              </a:ext>
            </a:extLst>
          </p:cNvPr>
          <p:cNvSpPr>
            <a:spLocks noGrp="1"/>
          </p:cNvSpPr>
          <p:nvPr/>
        </p:nvSpPr>
        <p:spPr>
          <a:xfrm>
            <a:off x="344020" y="1512794"/>
            <a:ext cx="4873439" cy="3250268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9525">
            <a:solidFill>
              <a:srgbClr val="DBEAFE"/>
            </a:solidFill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lang="en-US" altLang="zh-CN" sz="2000" dirty="0">
                <a:solidFill>
                  <a:srgbClr val="334155"/>
                </a:solidFill>
              </a:rPr>
              <a:t>• </a:t>
            </a:r>
            <a:r>
              <a:rPr lang="zh-CN" altLang="en-US" sz="2000" dirty="0">
                <a:solidFill>
                  <a:srgbClr val="334155"/>
                </a:solidFill>
              </a:rPr>
              <a:t>高频 </a:t>
            </a:r>
            <a:r>
              <a:rPr lang="en-US" sz="2000" dirty="0">
                <a:solidFill>
                  <a:srgbClr val="334155"/>
                </a:solidFill>
              </a:rPr>
              <a:t>exponent </a:t>
            </a:r>
            <a:r>
              <a:rPr lang="zh-CN" altLang="en-US" sz="2000" dirty="0">
                <a:solidFill>
                  <a:srgbClr val="334155"/>
                </a:solidFill>
              </a:rPr>
              <a:t>用 </a:t>
            </a:r>
            <a:r>
              <a:rPr lang="en-US" sz="2000" dirty="0">
                <a:solidFill>
                  <a:srgbClr val="334155"/>
                </a:solidFill>
              </a:rPr>
              <a:t>base + 3-bit offset </a:t>
            </a:r>
            <a:r>
              <a:rPr lang="zh-CN" altLang="en-US" sz="2000" dirty="0">
                <a:solidFill>
                  <a:srgbClr val="334155"/>
                </a:solidFill>
              </a:rPr>
              <a:t>表示</a:t>
            </a:r>
            <a:endParaRPr lang="en-US" altLang="zh-CN" sz="2000" dirty="0">
              <a:solidFill>
                <a:srgbClr val="334155"/>
              </a:solidFill>
            </a:endParaRPr>
          </a:p>
          <a:p>
            <a:pPr>
              <a:defRPr sz="1200">
                <a:solidFill>
                  <a:srgbClr val="334155"/>
                </a:solidFill>
              </a:defRPr>
            </a:pPr>
            <a:endParaRPr lang="zh-CN" altLang="en-US" sz="2000" dirty="0">
              <a:solidFill>
                <a:srgbClr val="334155"/>
              </a:solidFill>
            </a:endParaRP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lang="en-US" altLang="zh-CN" sz="2000" dirty="0">
                <a:solidFill>
                  <a:srgbClr val="334155"/>
                </a:solidFill>
              </a:rPr>
              <a:t>• 3-</a:t>
            </a:r>
            <a:r>
              <a:rPr lang="en-US" sz="2000" dirty="0">
                <a:solidFill>
                  <a:srgbClr val="334155"/>
                </a:solidFill>
              </a:rPr>
              <a:t>bit offset </a:t>
            </a:r>
            <a:r>
              <a:rPr lang="zh-CN" altLang="en-US" sz="2000" dirty="0">
                <a:solidFill>
                  <a:srgbClr val="334155"/>
                </a:solidFill>
              </a:rPr>
              <a:t>拆成三张 </a:t>
            </a:r>
            <a:r>
              <a:rPr lang="en-US" altLang="zh-CN" sz="2000" dirty="0">
                <a:solidFill>
                  <a:srgbClr val="334155"/>
                </a:solidFill>
              </a:rPr>
              <a:t>64-</a:t>
            </a:r>
            <a:r>
              <a:rPr lang="en-US" sz="2000" dirty="0">
                <a:solidFill>
                  <a:srgbClr val="334155"/>
                </a:solidFill>
              </a:rPr>
              <a:t>bit bitmap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endParaRPr lang="en-US" sz="2000" dirty="0">
              <a:solidFill>
                <a:srgbClr val="334155"/>
              </a:solidFill>
            </a:endParaRP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lang="en-US" sz="2000" dirty="0">
                <a:solidFill>
                  <a:srgbClr val="334155"/>
                </a:solidFill>
              </a:rPr>
              <a:t>• </a:t>
            </a:r>
            <a:r>
              <a:rPr lang="zh-CN" altLang="en-US" sz="2000" dirty="0">
                <a:solidFill>
                  <a:srgbClr val="334155"/>
                </a:solidFill>
              </a:rPr>
              <a:t>每张 </a:t>
            </a:r>
            <a:r>
              <a:rPr lang="en-US" sz="2000" dirty="0">
                <a:solidFill>
                  <a:srgbClr val="334155"/>
                </a:solidFill>
              </a:rPr>
              <a:t>bitmap </a:t>
            </a:r>
            <a:r>
              <a:rPr lang="zh-CN" altLang="en-US" sz="2000" dirty="0">
                <a:solidFill>
                  <a:srgbClr val="334155"/>
                </a:solidFill>
              </a:rPr>
              <a:t>对应 </a:t>
            </a:r>
            <a:r>
              <a:rPr lang="en-US" sz="2000" dirty="0">
                <a:solidFill>
                  <a:srgbClr val="334155"/>
                </a:solidFill>
              </a:rPr>
              <a:t>offset </a:t>
            </a:r>
            <a:r>
              <a:rPr lang="zh-CN" altLang="en-US" sz="2000" dirty="0">
                <a:solidFill>
                  <a:srgbClr val="334155"/>
                </a:solidFill>
              </a:rPr>
              <a:t>的一个 </a:t>
            </a:r>
            <a:r>
              <a:rPr lang="en-US" sz="2000" dirty="0">
                <a:solidFill>
                  <a:srgbClr val="334155"/>
                </a:solidFill>
              </a:rPr>
              <a:t>bit </a:t>
            </a:r>
            <a:r>
              <a:rPr lang="zh-CN" altLang="en-US" sz="2000" dirty="0">
                <a:solidFill>
                  <a:srgbClr val="334155"/>
                </a:solidFill>
              </a:rPr>
              <a:t>位</a:t>
            </a:r>
            <a:endParaRPr lang="en-US" altLang="zh-CN" sz="2000" dirty="0">
              <a:solidFill>
                <a:srgbClr val="334155"/>
              </a:solidFill>
            </a:endParaRPr>
          </a:p>
          <a:p>
            <a:pPr>
              <a:defRPr sz="1200">
                <a:solidFill>
                  <a:srgbClr val="334155"/>
                </a:solidFill>
              </a:defRPr>
            </a:pPr>
            <a:endParaRPr lang="zh-CN" altLang="en-US" sz="2000" dirty="0">
              <a:solidFill>
                <a:srgbClr val="334155"/>
              </a:solidFill>
            </a:endParaRP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lang="en-US" altLang="zh-CN" sz="2000" dirty="0">
                <a:solidFill>
                  <a:srgbClr val="334155"/>
                </a:solidFill>
              </a:rPr>
              <a:t>• </a:t>
            </a:r>
            <a:r>
              <a:rPr lang="zh-CN" altLang="en-US" sz="2000" dirty="0">
                <a:solidFill>
                  <a:srgbClr val="334155"/>
                </a:solidFill>
              </a:rPr>
              <a:t>固定长度、少分支，更适合 </a:t>
            </a:r>
            <a:r>
              <a:rPr lang="en-US" sz="2000" dirty="0">
                <a:solidFill>
                  <a:srgbClr val="334155"/>
                </a:solidFill>
              </a:rPr>
              <a:t>GPU </a:t>
            </a:r>
            <a:r>
              <a:rPr lang="zh-CN" altLang="en-US" sz="2000" dirty="0">
                <a:solidFill>
                  <a:srgbClr val="334155"/>
                </a:solidFill>
              </a:rPr>
              <a:t>并行解码</a:t>
            </a:r>
            <a:endParaRPr sz="2000" dirty="0">
              <a:solidFill>
                <a:srgbClr val="334155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546189-67D6-4F37-911C-92EC0D5DD702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190EF7-A1B2-9B0E-B5D9-FA032167F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929" y="819150"/>
            <a:ext cx="5643852" cy="460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35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CB7505B-9C80-4E0F-9A17-A7C6FE3DC21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ZipGEMM 把解压隐藏在矩阵乘法路径里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F03755-33F4-4ED8-8CD2-CE3942C592ED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目标是减少 global memory 中间结果，而不是单独追求解压速度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11546-58C2-462B-842C-D536B060F12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8ED1C9-DCEC-4C76-A64E-F9513E78BC2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B8E444-E8C9-4265-B37F-FE1DA3A5BEC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23D51B-DBF5-4BD3-8A1A-720B931B57BF}"/>
              </a:ext>
            </a:extLst>
          </p:cNvPr>
          <p:cNvSpPr>
            <a:spLocks noGrp="1"/>
          </p:cNvSpPr>
          <p:nvPr/>
        </p:nvSpPr>
        <p:spPr>
          <a:xfrm>
            <a:off x="628650" y="1419505"/>
            <a:ext cx="4953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B80E50-E7A0-4D6B-AA44-423EB04DA116}"/>
              </a:ext>
            </a:extLst>
          </p:cNvPr>
          <p:cNvSpPr>
            <a:spLocks noGrp="1"/>
          </p:cNvSpPr>
          <p:nvPr/>
        </p:nvSpPr>
        <p:spPr>
          <a:xfrm>
            <a:off x="742950" y="1613647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 dirty="0" err="1">
                <a:solidFill>
                  <a:srgbClr val="2457A6"/>
                </a:solidFill>
              </a:rPr>
              <a:t>传统</a:t>
            </a:r>
            <a:r>
              <a:rPr sz="1950" b="1" dirty="0">
                <a:solidFill>
                  <a:srgbClr val="2457A6"/>
                </a:solidFill>
              </a:rPr>
              <a:t> decoupled pipeline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5D5571-BB39-48D0-B0F9-B332C819EEAE}"/>
              </a:ext>
            </a:extLst>
          </p:cNvPr>
          <p:cNvSpPr>
            <a:spLocks noGrp="1"/>
          </p:cNvSpPr>
          <p:nvPr/>
        </p:nvSpPr>
        <p:spPr>
          <a:xfrm>
            <a:off x="742950" y="209578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</a:t>
            </a:r>
            <a:r>
              <a:rPr sz="1575" b="0" dirty="0" err="1">
                <a:solidFill>
                  <a:srgbClr val="111111"/>
                </a:solidFill>
              </a:rPr>
              <a:t>读压缩权重</a:t>
            </a:r>
            <a:endParaRPr sz="1575" b="0" dirty="0">
              <a:solidFill>
                <a:srgbClr val="111111"/>
              </a:solidFill>
            </a:endParaRP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</a:t>
            </a:r>
            <a:r>
              <a:rPr sz="1575" b="0" dirty="0" err="1">
                <a:solidFill>
                  <a:srgbClr val="111111"/>
                </a:solidFill>
              </a:rPr>
              <a:t>先解压出完整权重</a:t>
            </a:r>
            <a:endParaRPr sz="1575" b="0" dirty="0">
              <a:solidFill>
                <a:srgbClr val="111111"/>
              </a:solidFill>
            </a:endParaRP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</a:t>
            </a:r>
            <a:r>
              <a:rPr sz="1575" b="0" dirty="0" err="1">
                <a:solidFill>
                  <a:srgbClr val="111111"/>
                </a:solidFill>
              </a:rPr>
              <a:t>写回</a:t>
            </a:r>
            <a:r>
              <a:rPr sz="1575" b="0" dirty="0">
                <a:solidFill>
                  <a:srgbClr val="111111"/>
                </a:solidFill>
              </a:rPr>
              <a:t> global memory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GEMM </a:t>
            </a:r>
            <a:r>
              <a:rPr sz="1575" b="0" dirty="0" err="1">
                <a:solidFill>
                  <a:srgbClr val="111111"/>
                </a:solidFill>
              </a:rPr>
              <a:t>再读一次权重</a:t>
            </a:r>
            <a:endParaRPr sz="1575" b="0" dirty="0">
              <a:solidFill>
                <a:srgbClr val="11111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97DF5C-6B17-4699-A60F-D3731F3BE90F}"/>
              </a:ext>
            </a:extLst>
          </p:cNvPr>
          <p:cNvSpPr>
            <a:spLocks noGrp="1"/>
          </p:cNvSpPr>
          <p:nvPr/>
        </p:nvSpPr>
        <p:spPr>
          <a:xfrm>
            <a:off x="742950" y="3165942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 dirty="0" err="1">
                <a:solidFill>
                  <a:srgbClr val="2457A6"/>
                </a:solidFill>
              </a:rPr>
              <a:t>ZipGEMM</a:t>
            </a:r>
            <a:r>
              <a:rPr sz="1950" b="1" dirty="0">
                <a:solidFill>
                  <a:srgbClr val="2457A6"/>
                </a:solidFill>
              </a:rPr>
              <a:t> fused pipeline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C036DC-A242-43CA-8476-3A40D820283E}"/>
              </a:ext>
            </a:extLst>
          </p:cNvPr>
          <p:cNvSpPr>
            <a:spLocks noGrp="1"/>
          </p:cNvSpPr>
          <p:nvPr/>
        </p:nvSpPr>
        <p:spPr>
          <a:xfrm>
            <a:off x="742950" y="3533775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</a:t>
            </a:r>
            <a:r>
              <a:rPr sz="1575" b="0" dirty="0" err="1">
                <a:solidFill>
                  <a:srgbClr val="111111"/>
                </a:solidFill>
              </a:rPr>
              <a:t>读压缩权重</a:t>
            </a:r>
            <a:endParaRPr sz="1575" b="0" dirty="0">
              <a:solidFill>
                <a:srgbClr val="111111"/>
              </a:solidFill>
            </a:endParaRP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shared/register </a:t>
            </a:r>
            <a:r>
              <a:rPr sz="1575" b="0" dirty="0" err="1">
                <a:solidFill>
                  <a:srgbClr val="111111"/>
                </a:solidFill>
              </a:rPr>
              <a:t>中解压</a:t>
            </a:r>
            <a:endParaRPr sz="1575" b="0" dirty="0">
              <a:solidFill>
                <a:srgbClr val="111111"/>
              </a:solidFill>
            </a:endParaRP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</a:t>
            </a:r>
            <a:r>
              <a:rPr sz="1575" b="0" dirty="0" err="1">
                <a:solidFill>
                  <a:srgbClr val="111111"/>
                </a:solidFill>
              </a:rPr>
              <a:t>直接送入</a:t>
            </a:r>
            <a:r>
              <a:rPr sz="1575" b="0" dirty="0">
                <a:solidFill>
                  <a:srgbClr val="111111"/>
                </a:solidFill>
              </a:rPr>
              <a:t> Tensor Core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• </a:t>
            </a:r>
            <a:r>
              <a:rPr sz="1575" b="0" dirty="0" err="1">
                <a:solidFill>
                  <a:srgbClr val="111111"/>
                </a:solidFill>
              </a:rPr>
              <a:t>减少显存流量，提高</a:t>
            </a:r>
            <a:r>
              <a:rPr sz="1575" b="0" dirty="0">
                <a:solidFill>
                  <a:srgbClr val="111111"/>
                </a:solidFill>
              </a:rPr>
              <a:t> compute intensity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8E4A68-AB71-404B-ADB9-F8917C762961}"/>
              </a:ext>
            </a:extLst>
          </p:cNvPr>
          <p:cNvSpPr>
            <a:spLocks noGrp="1"/>
          </p:cNvSpPr>
          <p:nvPr/>
        </p:nvSpPr>
        <p:spPr>
          <a:xfrm>
            <a:off x="847725" y="56959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直观理解：ZipGEMM 不把解压后的完整权重“放回仓库”，而是在送上计算单元前就地恢复。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A3E4ADC-066D-F29E-3B4A-17D78ACE7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462" y="1346667"/>
            <a:ext cx="6865938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9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F6B38BD-732B-48A6-A81D-52096020DF5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 dirty="0" err="1">
                <a:solidFill>
                  <a:srgbClr val="111111"/>
                </a:solidFill>
              </a:rPr>
              <a:t>原论文宣称的主要成果</a:t>
            </a:r>
            <a:endParaRPr sz="2700" b="1" dirty="0">
              <a:solidFill>
                <a:srgbClr val="11111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6A0809-BDDD-46F2-83D5-508E7A12BC8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0FFE4A-DDA7-414C-AF60-D9E33F32414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4DA01E-A448-4B81-BFE3-F5396361665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20137D-4288-48C5-9581-A2DEB14A068B}"/>
              </a:ext>
            </a:extLst>
          </p:cNvPr>
          <p:cNvSpPr>
            <a:spLocks noGrp="1"/>
          </p:cNvSpPr>
          <p:nvPr/>
        </p:nvSpPr>
        <p:spPr>
          <a:xfrm>
            <a:off x="809625" y="1762125"/>
            <a:ext cx="24288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41AA48-56D6-4011-8395-721E48225EED}"/>
              </a:ext>
            </a:extLst>
          </p:cNvPr>
          <p:cNvSpPr>
            <a:spLocks noGrp="1"/>
          </p:cNvSpPr>
          <p:nvPr/>
        </p:nvSpPr>
        <p:spPr>
          <a:xfrm>
            <a:off x="962025" y="1914525"/>
            <a:ext cx="2124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30%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F2D073-D625-42FF-BE9F-6FB010E57B9D}"/>
              </a:ext>
            </a:extLst>
          </p:cNvPr>
          <p:cNvSpPr>
            <a:spLocks noGrp="1"/>
          </p:cNvSpPr>
          <p:nvPr/>
        </p:nvSpPr>
        <p:spPr>
          <a:xfrm>
            <a:off x="962025" y="2343150"/>
            <a:ext cx="2124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model size reduction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276E1B-04B5-46D1-9DA6-9118DA9397FC}"/>
              </a:ext>
            </a:extLst>
          </p:cNvPr>
          <p:cNvSpPr>
            <a:spLocks noGrp="1"/>
          </p:cNvSpPr>
          <p:nvPr/>
        </p:nvSpPr>
        <p:spPr>
          <a:xfrm>
            <a:off x="3524250" y="1762125"/>
            <a:ext cx="25717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30CDF-8031-498D-B43E-613BED224C8F}"/>
              </a:ext>
            </a:extLst>
          </p:cNvPr>
          <p:cNvSpPr>
            <a:spLocks noGrp="1"/>
          </p:cNvSpPr>
          <p:nvPr/>
        </p:nvSpPr>
        <p:spPr>
          <a:xfrm>
            <a:off x="3676650" y="1914525"/>
            <a:ext cx="2266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2.21x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FC0754-385B-4335-BF07-8AC3BD06E4A8}"/>
              </a:ext>
            </a:extLst>
          </p:cNvPr>
          <p:cNvSpPr>
            <a:spLocks noGrp="1"/>
          </p:cNvSpPr>
          <p:nvPr/>
        </p:nvSpPr>
        <p:spPr>
          <a:xfrm>
            <a:off x="3676650" y="234315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kernel speedup over cuBLAS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8F43D1-2B13-48DE-ACD6-87FE9DF1FF47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24288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332C0F-D251-45C3-9D34-8570A0E44BB8}"/>
              </a:ext>
            </a:extLst>
          </p:cNvPr>
          <p:cNvSpPr>
            <a:spLocks noGrp="1"/>
          </p:cNvSpPr>
          <p:nvPr/>
        </p:nvSpPr>
        <p:spPr>
          <a:xfrm>
            <a:off x="6534150" y="1914525"/>
            <a:ext cx="2124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5.53x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BE79E8-5351-4868-BEDC-77AE39F68C6C}"/>
              </a:ext>
            </a:extLst>
          </p:cNvPr>
          <p:cNvSpPr>
            <a:spLocks noGrp="1"/>
          </p:cNvSpPr>
          <p:nvPr/>
        </p:nvSpPr>
        <p:spPr>
          <a:xfrm>
            <a:off x="6534150" y="2343150"/>
            <a:ext cx="2124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speedup over DFloat11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BC20EA-0473-4046-9300-532D7E4D4FAF}"/>
              </a:ext>
            </a:extLst>
          </p:cNvPr>
          <p:cNvSpPr>
            <a:spLocks noGrp="1"/>
          </p:cNvSpPr>
          <p:nvPr/>
        </p:nvSpPr>
        <p:spPr>
          <a:xfrm>
            <a:off x="9096375" y="1762125"/>
            <a:ext cx="24288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84DA67-61CC-438D-8BA8-8D00DCC2A8B6}"/>
              </a:ext>
            </a:extLst>
          </p:cNvPr>
          <p:cNvSpPr>
            <a:spLocks noGrp="1"/>
          </p:cNvSpPr>
          <p:nvPr/>
        </p:nvSpPr>
        <p:spPr>
          <a:xfrm>
            <a:off x="9248775" y="1914525"/>
            <a:ext cx="2124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avg 1.22x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94B9A3-C550-476C-A11C-F2348C8FB9F8}"/>
              </a:ext>
            </a:extLst>
          </p:cNvPr>
          <p:cNvSpPr>
            <a:spLocks noGrp="1"/>
          </p:cNvSpPr>
          <p:nvPr/>
        </p:nvSpPr>
        <p:spPr>
          <a:xfrm>
            <a:off x="9248775" y="2343150"/>
            <a:ext cx="2124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end-to-end speedup over vLLM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0966BB-C976-4FFF-86E4-D78CCAA5D757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99060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端到端实验覆盖 LLaMA3.1-8B、Mistral-24B、LLaMA3.1-70B 等模型。</a:t>
            </a:r>
          </a:p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论文还报告权重 footprint 约降到 71%-72%，节省显存可用于扩大 KV cache。</a:t>
            </a:r>
          </a:p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论文也承认在 A100/H800 这类 HBM 更强的训练型 GPU 上，ZipGEMM 不一定超过 cuBLAS。</a:t>
            </a:r>
          </a:p>
        </p:txBody>
      </p:sp>
    </p:spTree>
    <p:extLst>
      <p:ext uri="{BB962C8B-B14F-4D97-AF65-F5344CB8AC3E}">
        <p14:creationId xmlns:p14="http://schemas.microsoft.com/office/powerpoint/2010/main" val="77197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33D0B33-D000-4667-B180-2C3149738C5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 dirty="0" err="1">
                <a:solidFill>
                  <a:srgbClr val="111827"/>
                </a:solidFill>
              </a:rPr>
              <a:t>原论文</a:t>
            </a:r>
            <a:r>
              <a:rPr sz="2250" b="1" dirty="0">
                <a:solidFill>
                  <a:srgbClr val="111827"/>
                </a:solidFill>
              </a:rPr>
              <a:t> kernel </a:t>
            </a:r>
            <a:r>
              <a:rPr sz="2250" b="1" dirty="0" err="1">
                <a:solidFill>
                  <a:srgbClr val="111827"/>
                </a:solidFill>
              </a:rPr>
              <a:t>主对比实验</a:t>
            </a:r>
            <a:r>
              <a:rPr lang="zh-CN" altLang="en-US" sz="2250" b="1" dirty="0">
                <a:solidFill>
                  <a:srgbClr val="111827"/>
                </a:solidFill>
              </a:rPr>
              <a:t>效果图表</a:t>
            </a:r>
            <a:endParaRPr sz="2250" b="1" dirty="0">
              <a:solidFill>
                <a:srgbClr val="11182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7CBA4D-7F9C-4D03-BFD6-D5A7CF59F87E}"/>
              </a:ext>
            </a:extLst>
          </p:cNvPr>
          <p:cNvSpPr>
            <a:spLocks noGrp="1"/>
          </p:cNvSpPr>
          <p:nvPr/>
        </p:nvSpPr>
        <p:spPr>
          <a:xfrm>
            <a:off x="948018" y="5479676"/>
            <a:ext cx="1092708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1600" dirty="0" err="1">
                <a:solidFill>
                  <a:srgbClr val="64748B"/>
                </a:solidFill>
              </a:rPr>
              <a:t>ZipGEMM</a:t>
            </a:r>
            <a:r>
              <a:rPr sz="1600" dirty="0">
                <a:solidFill>
                  <a:srgbClr val="64748B"/>
                </a:solidFill>
              </a:rPr>
              <a:t> 在 RTX4090 / L40S </a:t>
            </a:r>
            <a:r>
              <a:rPr sz="1600" dirty="0" err="1">
                <a:solidFill>
                  <a:srgbClr val="64748B"/>
                </a:solidFill>
              </a:rPr>
              <a:t>上相对</a:t>
            </a:r>
            <a:r>
              <a:rPr sz="1600" dirty="0">
                <a:solidFill>
                  <a:srgbClr val="64748B"/>
                </a:solidFill>
              </a:rPr>
              <a:t> </a:t>
            </a:r>
            <a:r>
              <a:rPr sz="1600" dirty="0" err="1">
                <a:solidFill>
                  <a:srgbClr val="64748B"/>
                </a:solidFill>
              </a:rPr>
              <a:t>cuBLAS_TC</a:t>
            </a:r>
            <a:r>
              <a:rPr sz="1600" dirty="0">
                <a:solidFill>
                  <a:srgbClr val="64748B"/>
                </a:solidFill>
              </a:rPr>
              <a:t> </a:t>
            </a:r>
            <a:r>
              <a:rPr sz="1600" dirty="0" err="1">
                <a:solidFill>
                  <a:srgbClr val="64748B"/>
                </a:solidFill>
              </a:rPr>
              <a:t>与其他无损压缩</a:t>
            </a:r>
            <a:r>
              <a:rPr sz="1600" dirty="0">
                <a:solidFill>
                  <a:srgbClr val="64748B"/>
                </a:solidFill>
              </a:rPr>
              <a:t> baseline </a:t>
            </a:r>
            <a:r>
              <a:rPr sz="1600" dirty="0" err="1">
                <a:solidFill>
                  <a:srgbClr val="64748B"/>
                </a:solidFill>
              </a:rPr>
              <a:t>的速度对比</a:t>
            </a:r>
            <a:r>
              <a:rPr lang="zh-CN" altLang="en-US" sz="1600" dirty="0">
                <a:solidFill>
                  <a:srgbClr val="64748B"/>
                </a:solidFill>
              </a:rPr>
              <a:t>有显著提升，而与</a:t>
            </a:r>
            <a:r>
              <a:rPr lang="en-US" altLang="zh-CN" sz="1600" dirty="0" err="1">
                <a:solidFill>
                  <a:srgbClr val="64748B"/>
                </a:solidFill>
              </a:rPr>
              <a:t>cuBLAS_TC</a:t>
            </a:r>
            <a:r>
              <a:rPr lang="zh-CN" altLang="en-US" sz="1600" dirty="0">
                <a:solidFill>
                  <a:srgbClr val="64748B"/>
                </a:solidFill>
              </a:rPr>
              <a:t>各有优劣</a:t>
            </a:r>
            <a:endParaRPr sz="975" dirty="0">
              <a:solidFill>
                <a:srgbClr val="64748B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91B4F-2B7E-4EAE-820B-0D4DBE559927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0E73FB-4B4C-2EFB-79CE-D9EB9AC6B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9820"/>
            <a:ext cx="10413393" cy="42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22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498CF095-9B3B-41BD-B537-61F4AD972C7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我的复现范围：先完成官方 kernel benchmark 的可追溯闭环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750B35-8197-49B2-9DF3-03CF4C22FCF5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受硬件和时间限制，重点复现最能落地的 CUDA benchmark 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536341-1A3E-4CE6-95EF-82FE42F9157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EDBD39-1010-415F-A16E-4CDFF54573B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5F7DF0-7FAF-42E3-B11D-70DE9D82DCB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6089C8-0EB6-4319-AEB2-36473A6A56D3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057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C28482-895C-4606-9B76-798E0CBF1795}"/>
              </a:ext>
            </a:extLst>
          </p:cNvPr>
          <p:cNvSpPr>
            <a:spLocks noGrp="1"/>
          </p:cNvSpPr>
          <p:nvPr/>
        </p:nvSpPr>
        <p:spPr>
          <a:xfrm>
            <a:off x="952500" y="181927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工程代码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60D31D-AF93-4451-ABFD-0A73A977392A}"/>
              </a:ext>
            </a:extLst>
          </p:cNvPr>
          <p:cNvSpPr>
            <a:spLocks noGrp="1"/>
          </p:cNvSpPr>
          <p:nvPr/>
        </p:nvSpPr>
        <p:spPr>
          <a:xfrm>
            <a:off x="3162300" y="1838325"/>
            <a:ext cx="790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code/ZipServ_ASPLOS26_patched/，保存经过 CUDA 12.0 兼容修复的完整官方工程。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6AD433-9B15-439A-A8B2-D67284596C42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1057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601877-8609-4934-B96E-83EDA100355A}"/>
              </a:ext>
            </a:extLst>
          </p:cNvPr>
          <p:cNvSpPr>
            <a:spLocks noGrp="1"/>
          </p:cNvSpPr>
          <p:nvPr/>
        </p:nvSpPr>
        <p:spPr>
          <a:xfrm>
            <a:off x="952500" y="258127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一键编译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6DD15C-8EB7-4D54-BB96-F8064BADF06F}"/>
              </a:ext>
            </a:extLst>
          </p:cNvPr>
          <p:cNvSpPr>
            <a:spLocks noGrp="1"/>
          </p:cNvSpPr>
          <p:nvPr/>
        </p:nvSpPr>
        <p:spPr>
          <a:xfrm>
            <a:off x="3162300" y="2600325"/>
            <a:ext cx="790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scripts/setup_zipserv.sh，可编译 libL_API.so、test_mm、test_decompress。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9DA9B7-2F2A-4C18-8E00-AF22F1E7194F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57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361D35-41C9-49AD-BE42-C01743DAF48A}"/>
              </a:ext>
            </a:extLst>
          </p:cNvPr>
          <p:cNvSpPr>
            <a:spLocks noGrp="1"/>
          </p:cNvSpPr>
          <p:nvPr/>
        </p:nvSpPr>
        <p:spPr>
          <a:xfrm>
            <a:off x="952500" y="334327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最小实验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A562DB-D932-436C-8730-7FC369D418D3}"/>
              </a:ext>
            </a:extLst>
          </p:cNvPr>
          <p:cNvSpPr>
            <a:spLocks noGrp="1"/>
          </p:cNvSpPr>
          <p:nvPr/>
        </p:nvSpPr>
        <p:spPr>
          <a:xfrm>
            <a:off x="3162300" y="3362325"/>
            <a:ext cx="790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test_mm 4096 4096 128 1，日志保存在 logs/experiments/。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981017-498A-4148-A2BF-DD803C889345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1057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49F356-231F-4196-ACAE-E4D79778CDA0}"/>
              </a:ext>
            </a:extLst>
          </p:cNvPr>
          <p:cNvSpPr>
            <a:spLocks noGrp="1"/>
          </p:cNvSpPr>
          <p:nvPr/>
        </p:nvSpPr>
        <p:spPr>
          <a:xfrm>
            <a:off x="952500" y="410527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解压实验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EE599C-4516-4D82-9EF7-47685F2E909F}"/>
              </a:ext>
            </a:extLst>
          </p:cNvPr>
          <p:cNvSpPr>
            <a:spLocks noGrp="1"/>
          </p:cNvSpPr>
          <p:nvPr/>
        </p:nvSpPr>
        <p:spPr>
          <a:xfrm>
            <a:off x="3162300" y="4124325"/>
            <a:ext cx="790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test_decompress 128 128 128，验证解压结果 100% identical。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D4616E-61F1-4529-8409-C4491CE59096}"/>
              </a:ext>
            </a:extLst>
          </p:cNvPr>
          <p:cNvSpPr>
            <a:spLocks noGrp="1"/>
          </p:cNvSpPr>
          <p:nvPr/>
        </p:nvSpPr>
        <p:spPr>
          <a:xfrm>
            <a:off x="781050" y="4714875"/>
            <a:ext cx="1057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0F7681-0CB4-4C78-9762-6B52151BFD1E}"/>
              </a:ext>
            </a:extLst>
          </p:cNvPr>
          <p:cNvSpPr>
            <a:spLocks noGrp="1"/>
          </p:cNvSpPr>
          <p:nvPr/>
        </p:nvSpPr>
        <p:spPr>
          <a:xfrm>
            <a:off x="952500" y="486727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批量实验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60BE5C-79ED-4687-93D4-C839F96AC79B}"/>
              </a:ext>
            </a:extLst>
          </p:cNvPr>
          <p:cNvSpPr>
            <a:spLocks noGrp="1"/>
          </p:cNvSpPr>
          <p:nvPr/>
        </p:nvSpPr>
        <p:spPr>
          <a:xfrm>
            <a:off x="3162300" y="4886325"/>
            <a:ext cx="790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 sweep 和 shape sweep，自动生成 CSV、Markdown 摘要和 PNG/PDF 图表。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D6E563-A96D-432F-9B34-03F0052BD98C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0858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7AA4E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4B82C5-A070-499E-A251-B80B2997FAE7}"/>
              </a:ext>
            </a:extLst>
          </p:cNvPr>
          <p:cNvSpPr>
            <a:spLocks noGrp="1"/>
          </p:cNvSpPr>
          <p:nvPr/>
        </p:nvSpPr>
        <p:spPr>
          <a:xfrm>
            <a:off x="2000250" y="5629275"/>
            <a:ext cx="914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官方仓库支持 ZipServ kernel benchmark 和 cuBLAS 对比；DietGPU、nvCOMP、DFloat11、vLLM 等外部 baseline 需要额外获取、编译和适配，所以本次优先完成官方代码支持的 kernel-level 实验。</a:t>
            </a:r>
          </a:p>
        </p:txBody>
      </p:sp>
    </p:spTree>
    <p:extLst>
      <p:ext uri="{BB962C8B-B14F-4D97-AF65-F5344CB8AC3E}">
        <p14:creationId xmlns:p14="http://schemas.microsoft.com/office/powerpoint/2010/main" val="398098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C1F113A-928D-433F-AFAC-B02ED7B2FD7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服务器环境与兼容性修改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9DEB83-89A2-4745-BF87-C23162955B26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真正复现时，工程问题往往比论文公式更先挡路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41ECA0-86B0-485B-B207-6AB55E8912E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1ACBF2-C6F6-4679-B103-BC6EFC617BB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949176-2A14-4B41-AC63-FA1DE030A70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3EBC0-2739-4805-B7BC-B24E94A99C9E}"/>
              </a:ext>
            </a:extLst>
          </p:cNvPr>
          <p:cNvSpPr>
            <a:spLocks noGrp="1"/>
          </p:cNvSpPr>
          <p:nvPr/>
        </p:nvSpPr>
        <p:spPr>
          <a:xfrm>
            <a:off x="809625" y="1666875"/>
            <a:ext cx="25717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52D479-AB25-49B6-BA7D-BC078D3A7C68}"/>
              </a:ext>
            </a:extLst>
          </p:cNvPr>
          <p:cNvSpPr>
            <a:spLocks noGrp="1"/>
          </p:cNvSpPr>
          <p:nvPr/>
        </p:nvSpPr>
        <p:spPr>
          <a:xfrm>
            <a:off x="962025" y="1819275"/>
            <a:ext cx="2266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NVIDIA L20 x2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6FED-2C64-4AEA-B4B2-86D11518486E}"/>
              </a:ext>
            </a:extLst>
          </p:cNvPr>
          <p:cNvSpPr>
            <a:spLocks noGrp="1"/>
          </p:cNvSpPr>
          <p:nvPr/>
        </p:nvSpPr>
        <p:spPr>
          <a:xfrm>
            <a:off x="962025" y="22479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current GPU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A265BE-1FD2-4ED2-9087-00BC97BC0596}"/>
              </a:ext>
            </a:extLst>
          </p:cNvPr>
          <p:cNvSpPr>
            <a:spLocks noGrp="1"/>
          </p:cNvSpPr>
          <p:nvPr/>
        </p:nvSpPr>
        <p:spPr>
          <a:xfrm>
            <a:off x="3667125" y="1666875"/>
            <a:ext cx="23812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EA7FD1-414B-45CB-9C8C-9977D7EE017B}"/>
              </a:ext>
            </a:extLst>
          </p:cNvPr>
          <p:cNvSpPr>
            <a:spLocks noGrp="1"/>
          </p:cNvSpPr>
          <p:nvPr/>
        </p:nvSpPr>
        <p:spPr>
          <a:xfrm>
            <a:off x="3819525" y="1819275"/>
            <a:ext cx="2076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CUDA 12.0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05D439-E3F9-44CF-85A3-E4217181B221}"/>
              </a:ext>
            </a:extLst>
          </p:cNvPr>
          <p:cNvSpPr>
            <a:spLocks noGrp="1"/>
          </p:cNvSpPr>
          <p:nvPr/>
        </p:nvSpPr>
        <p:spPr>
          <a:xfrm>
            <a:off x="3819525" y="22479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nvcc at /usr/bin/nvcc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3FE3C3-925E-457E-B875-23FE1DED297B}"/>
              </a:ext>
            </a:extLst>
          </p:cNvPr>
          <p:cNvSpPr>
            <a:spLocks noGrp="1"/>
          </p:cNvSpPr>
          <p:nvPr/>
        </p:nvSpPr>
        <p:spPr>
          <a:xfrm>
            <a:off x="6334125" y="1666875"/>
            <a:ext cx="21907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EE791F-337E-4682-87F7-F541D7E174C1}"/>
              </a:ext>
            </a:extLst>
          </p:cNvPr>
          <p:cNvSpPr>
            <a:spLocks noGrp="1"/>
          </p:cNvSpPr>
          <p:nvPr/>
        </p:nvSpPr>
        <p:spPr>
          <a:xfrm>
            <a:off x="6486525" y="1819275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gcc 13.3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0AD98E-C49C-44A7-96A6-7D8F8AB2E24B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make 4.3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2250C2-D453-46D7-B962-AD8381726A61}"/>
              </a:ext>
            </a:extLst>
          </p:cNvPr>
          <p:cNvSpPr>
            <a:spLocks noGrp="1"/>
          </p:cNvSpPr>
          <p:nvPr/>
        </p:nvSpPr>
        <p:spPr>
          <a:xfrm>
            <a:off x="8810625" y="1666875"/>
            <a:ext cx="23812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1ABDFE-9329-40FA-8F2A-B3902B5BCCC2}"/>
              </a:ext>
            </a:extLst>
          </p:cNvPr>
          <p:cNvSpPr>
            <a:spLocks noGrp="1"/>
          </p:cNvSpPr>
          <p:nvPr/>
        </p:nvSpPr>
        <p:spPr>
          <a:xfrm>
            <a:off x="8963025" y="1819275"/>
            <a:ext cx="2076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conda zipserv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683796-F89A-4327-AF38-4DBE1AB46582}"/>
              </a:ext>
            </a:extLst>
          </p:cNvPr>
          <p:cNvSpPr>
            <a:spLocks noGrp="1"/>
          </p:cNvSpPr>
          <p:nvPr/>
        </p:nvSpPr>
        <p:spPr>
          <a:xfrm>
            <a:off x="8963025" y="22479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Python 3.10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3D65D1-23EE-4780-BC8E-D1EA0124A767}"/>
              </a:ext>
            </a:extLst>
          </p:cNvPr>
          <p:cNvSpPr>
            <a:spLocks noGrp="1"/>
          </p:cNvSpPr>
          <p:nvPr/>
        </p:nvSpPr>
        <p:spPr>
          <a:xfrm>
            <a:off x="962025" y="3657600"/>
            <a:ext cx="9906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官方 Makefile 默认 /usr/local/cuda：脚本里显式传 CUDA_INSTALL_PATH=/usr CUDA_HOME=/usr。</a:t>
            </a:r>
          </a:p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CUDA 12.0 下 BF16 intrinsic host/device 不兼容：增加 host 端 std::memcpy bit 转换函数。</a:t>
            </a:r>
          </a:p>
        </p:txBody>
      </p:sp>
    </p:spTree>
    <p:extLst>
      <p:ext uri="{BB962C8B-B14F-4D97-AF65-F5344CB8AC3E}">
        <p14:creationId xmlns:p14="http://schemas.microsoft.com/office/powerpoint/2010/main" val="667375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CDCD75B-A0B4-4BE9-94C8-79C5345BA3C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最小实验验证：代码能编译，解压保持 lossless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8C0A07-2725-44D8-B0D5-F6FB320DD854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这是后续 sweep 实验的基础，不直接代表论文全部主结论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ACC2F9-D812-4E21-8571-D5D6E94B5AC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055A42-F298-4187-94DC-31AEB14C19A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7FF221-7F73-4AC9-BC08-616EE7E7927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D4A34A-57F1-4488-B699-94DD6017BEE8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24288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C895C3-0DA3-4A0C-8463-FDAFDB2F6A5C}"/>
              </a:ext>
            </a:extLst>
          </p:cNvPr>
          <p:cNvSpPr>
            <a:spLocks noGrp="1"/>
          </p:cNvSpPr>
          <p:nvPr/>
        </p:nvSpPr>
        <p:spPr>
          <a:xfrm>
            <a:off x="962025" y="1866900"/>
            <a:ext cx="2124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0.139 ms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2E5441-3530-49ED-B478-785B4340E751}"/>
              </a:ext>
            </a:extLst>
          </p:cNvPr>
          <p:cNvSpPr>
            <a:spLocks noGrp="1"/>
          </p:cNvSpPr>
          <p:nvPr/>
        </p:nvSpPr>
        <p:spPr>
          <a:xfrm>
            <a:off x="962025" y="2295525"/>
            <a:ext cx="2124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latency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0CD3B3-1AD5-4BE6-8DC1-14023F8A8D09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271462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824084-304F-4F8A-9D16-2BE4B881EFC3}"/>
              </a:ext>
            </a:extLst>
          </p:cNvPr>
          <p:cNvSpPr>
            <a:spLocks noGrp="1"/>
          </p:cNvSpPr>
          <p:nvPr/>
        </p:nvSpPr>
        <p:spPr>
          <a:xfrm>
            <a:off x="3676650" y="1866900"/>
            <a:ext cx="2409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30.88 TFLOPs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3513F3-4C2A-4554-81C7-7C8E02848618}"/>
              </a:ext>
            </a:extLst>
          </p:cNvPr>
          <p:cNvSpPr>
            <a:spLocks noGrp="1"/>
          </p:cNvSpPr>
          <p:nvPr/>
        </p:nvSpPr>
        <p:spPr>
          <a:xfrm>
            <a:off x="3676650" y="2295525"/>
            <a:ext cx="2409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throughput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96E9F2-69EB-4886-957C-E6F71F7B63C6}"/>
              </a:ext>
            </a:extLst>
          </p:cNvPr>
          <p:cNvSpPr>
            <a:spLocks noGrp="1"/>
          </p:cNvSpPr>
          <p:nvPr/>
        </p:nvSpPr>
        <p:spPr>
          <a:xfrm>
            <a:off x="6524625" y="1714500"/>
            <a:ext cx="2286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561885-FEA4-45EF-8AE1-2AB63FD3BB48}"/>
              </a:ext>
            </a:extLst>
          </p:cNvPr>
          <p:cNvSpPr>
            <a:spLocks noGrp="1"/>
          </p:cNvSpPr>
          <p:nvPr/>
        </p:nvSpPr>
        <p:spPr>
          <a:xfrm>
            <a:off x="6677025" y="1866900"/>
            <a:ext cx="1981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100%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683FDB-2735-40E3-81E9-136D8B0020AA}"/>
              </a:ext>
            </a:extLst>
          </p:cNvPr>
          <p:cNvSpPr>
            <a:spLocks noGrp="1"/>
          </p:cNvSpPr>
          <p:nvPr/>
        </p:nvSpPr>
        <p:spPr>
          <a:xfrm>
            <a:off x="6677025" y="2295525"/>
            <a:ext cx="198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decompression identical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B22B4F-66EB-4945-876B-737B21ECDB04}"/>
              </a:ext>
            </a:extLst>
          </p:cNvPr>
          <p:cNvSpPr>
            <a:spLocks noGrp="1"/>
          </p:cNvSpPr>
          <p:nvPr/>
        </p:nvSpPr>
        <p:spPr>
          <a:xfrm>
            <a:off x="9096375" y="1714500"/>
            <a:ext cx="2286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1BA0A6-3859-4B7D-BEEC-143E8FFBDB3E}"/>
              </a:ext>
            </a:extLst>
          </p:cNvPr>
          <p:cNvSpPr>
            <a:spLocks noGrp="1"/>
          </p:cNvSpPr>
          <p:nvPr/>
        </p:nvSpPr>
        <p:spPr>
          <a:xfrm>
            <a:off x="9248775" y="1866900"/>
            <a:ext cx="1981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0 error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03681A-D53A-4709-8F64-377A30070809}"/>
              </a:ext>
            </a:extLst>
          </p:cNvPr>
          <p:cNvSpPr>
            <a:spLocks noGrp="1"/>
          </p:cNvSpPr>
          <p:nvPr/>
        </p:nvSpPr>
        <p:spPr>
          <a:xfrm>
            <a:off x="9248775" y="2295525"/>
            <a:ext cx="198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 absolute error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7149DE-45A2-44A2-9DEF-82A6BFAF5BBC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990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test_mm 4096 4096 128 1：可以输出 ZipServ、cuBLAS_TC、cuBLAS_non-TC 的时间和 TFLOPs。</a:t>
            </a:r>
          </a:p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test_decompress 128 128 128：原始矩阵和解压矩阵 16384 个元素完全一致。</a:t>
            </a:r>
          </a:p>
          <a:p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说明官方 kernel benchmark 在当前服务器上已经跑通。</a:t>
            </a:r>
          </a:p>
        </p:txBody>
      </p:sp>
    </p:spTree>
    <p:extLst>
      <p:ext uri="{BB962C8B-B14F-4D97-AF65-F5344CB8AC3E}">
        <p14:creationId xmlns:p14="http://schemas.microsoft.com/office/powerpoint/2010/main" val="80313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0D823E4-FC47-4C39-A6CD-6128BD5728F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 sweep：在 L20 上观察不同 token/batch 维度下的趋势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C7900E-F3F7-4047-8525-74BBE86F7714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固定 M=4096, K=4096, SplitK=1，扫描 N=1 到 512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F3668F-2327-469A-8BF4-7B36FFAE26E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4137F0-7D25-4A12-9250-C2FD422C5B5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746C13-00EE-4519-9A4B-8030021908E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13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62138"/>
            <a:ext cx="5143500" cy="30861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1919288"/>
            <a:ext cx="4953000" cy="29718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302763-7F28-48A5-8827-A96F3D4C14C5}"/>
              </a:ext>
            </a:extLst>
          </p:cNvPr>
          <p:cNvSpPr>
            <a:spLocks noGrp="1"/>
          </p:cNvSpPr>
          <p:nvPr/>
        </p:nvSpPr>
        <p:spPr>
          <a:xfrm>
            <a:off x="838200" y="542925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观察：本次 L20 结果中 ZipServ 没有超过 cuBLAS_TC，但明显快于 cuBLAS_non-TC；说明硬件和 shape 会影响收益。</a:t>
            </a:r>
          </a:p>
        </p:txBody>
      </p:sp>
    </p:spTree>
    <p:extLst>
      <p:ext uri="{BB962C8B-B14F-4D97-AF65-F5344CB8AC3E}">
        <p14:creationId xmlns:p14="http://schemas.microsoft.com/office/powerpoint/2010/main" val="1242552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727D36B-A20A-4F51-91C0-CDB105622E3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Shape sweep：部分 FFN GateUp 类形状出现加速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CD359D-C130-4F96-9CD9-5D7D7FEE39FA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这更接近论文 Figure 11 的 kernel-level 主对比逻辑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EBB129-E097-48AD-AFFE-C1FE5F59F8D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84E439-2FC7-4DEB-BF84-3137B48C793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747308-44DD-4BA3-A344-1F524A1DDDB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14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033588"/>
            <a:ext cx="5143500" cy="27432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2006693"/>
            <a:ext cx="4953000" cy="279698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AE5FE2A-1D68-4F50-8D6E-03F7DE1C2B3D}"/>
              </a:ext>
            </a:extLst>
          </p:cNvPr>
          <p:cNvSpPr>
            <a:spLocks noGrp="1"/>
          </p:cNvSpPr>
          <p:nvPr/>
        </p:nvSpPr>
        <p:spPr>
          <a:xfrm>
            <a:off x="838200" y="542925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观察：11008x4096 和 28672x4096 两个 GateUp-like shape 相对 cuBLAS_TC speedup 分别约 1.40 和 1.28。</a:t>
            </a:r>
          </a:p>
        </p:txBody>
      </p:sp>
    </p:spTree>
    <p:extLst>
      <p:ext uri="{BB962C8B-B14F-4D97-AF65-F5344CB8AC3E}">
        <p14:creationId xmlns:p14="http://schemas.microsoft.com/office/powerpoint/2010/main" val="2147124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4FBAE93-49DD-4451-AFDE-3375BBD3E17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复现结果和原论文结果不完全一致是合理的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5E1E18-6177-466F-B3D0-34EE286B4446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关键是解释差异来源，而不是只报成功数字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F5497B-7994-49D9-9C92-CB22258E6C3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4CD7BB-64F0-414E-9FF1-2DFCAE91B24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E92C18-92EC-4164-B9C3-A79E6550635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38F0B5-55F1-41B0-9E2D-CAACA9C11A01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4953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D7DD15-9656-4D08-BA09-ECF3F851C101}"/>
              </a:ext>
            </a:extLst>
          </p:cNvPr>
          <p:cNvSpPr>
            <a:spLocks noGrp="1"/>
          </p:cNvSpPr>
          <p:nvPr/>
        </p:nvSpPr>
        <p:spPr>
          <a:xfrm>
            <a:off x="6496050" y="1714500"/>
            <a:ext cx="4953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5B0793-5803-4C09-A5C9-5A4563D5AB0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原论文条件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161D1B-1EF3-4D74-ACFD-FA47A997E3A5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RTX4090 / L40S / RTX5090 / A100 / H800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DietGPU、nvCOMP、DFloat11 等 baseline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vLLM 端到端推理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覆盖更多模型和 layer shape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98CB4E-597B-45A1-8431-61C862D69EF2}"/>
              </a:ext>
            </a:extLst>
          </p:cNvPr>
          <p:cNvSpPr>
            <a:spLocks noGrp="1"/>
          </p:cNvSpPr>
          <p:nvPr/>
        </p:nvSpPr>
        <p:spPr>
          <a:xfrm>
            <a:off x="6781800" y="20193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本次复现条件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1E41C2-9D19-4322-AC2B-EAEB7B55F1B7}"/>
              </a:ext>
            </a:extLst>
          </p:cNvPr>
          <p:cNvSpPr>
            <a:spLocks noGrp="1"/>
          </p:cNvSpPr>
          <p:nvPr/>
        </p:nvSpPr>
        <p:spPr>
          <a:xfrm>
            <a:off x="6800850" y="259080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NVIDIA L20 服务器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官方 benchmark 内置 cuBLAS 对比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kernel-level 实验为主</a:t>
            </a:r>
          </a:p>
          <a:p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选取代表性 shape 和 N sweep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A27A38-7518-4BDE-80F9-C14738CE074F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所以本次结论更适合表述为：完成可追溯的 kernel-level 简化复现，并验证部分形状下的趋势。</a:t>
            </a:r>
          </a:p>
        </p:txBody>
      </p:sp>
    </p:spTree>
    <p:extLst>
      <p:ext uri="{BB962C8B-B14F-4D97-AF65-F5344CB8AC3E}">
        <p14:creationId xmlns:p14="http://schemas.microsoft.com/office/powerpoint/2010/main" val="1504512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A4A8A18-B146-4138-AF3B-92873919954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可复现性评价：kernel 部分较好，系统级部分门槛较高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8946E9-741D-41AF-AA6D-85870FFFACC9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这部分可以作为老师提问时的回答重点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E1F112-E828-4E1D-9A8A-85FAAE222D9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230E71-8468-46C7-8808-F5158712ACE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57BD2D-05CE-4F4C-AA8B-F1B08C60494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969753-2951-4481-8A24-A5AE98554DA8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D006C1-911D-4319-AB80-00A9B4EA021E}"/>
              </a:ext>
            </a:extLst>
          </p:cNvPr>
          <p:cNvSpPr>
            <a:spLocks noGrp="1"/>
          </p:cNvSpPr>
          <p:nvPr/>
        </p:nvSpPr>
        <p:spPr>
          <a:xfrm>
            <a:off x="1028700" y="19145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代码完整性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D812C6-9B96-4487-89E5-38B10591DAF0}"/>
              </a:ext>
            </a:extLst>
          </p:cNvPr>
          <p:cNvSpPr>
            <a:spLocks noGrp="1"/>
          </p:cNvSpPr>
          <p:nvPr/>
        </p:nvSpPr>
        <p:spPr>
          <a:xfrm>
            <a:off x="3238500" y="1933575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官方仓库提供 kernel benchmark，但在当前 CUDA 12.0 环境中需要额外兼容性修改。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ED9420-82C1-41C1-9327-A1BA1515D623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047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23E88E-A755-4381-BCAE-96E5E0AEFFCB}"/>
              </a:ext>
            </a:extLst>
          </p:cNvPr>
          <p:cNvSpPr>
            <a:spLocks noGrp="1"/>
          </p:cNvSpPr>
          <p:nvPr/>
        </p:nvSpPr>
        <p:spPr>
          <a:xfrm>
            <a:off x="1028700" y="28194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实验描述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E0B34B-419E-4FAE-9F21-E361D9B643FE}"/>
              </a:ext>
            </a:extLst>
          </p:cNvPr>
          <p:cNvSpPr>
            <a:spLocks noGrp="1"/>
          </p:cNvSpPr>
          <p:nvPr/>
        </p:nvSpPr>
        <p:spPr>
          <a:xfrm>
            <a:off x="3238500" y="283845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论文核心思想清楚，但完整复刻 Figure 11/16/17 还需要更多 baseline、模型权重和配置细节。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5B1816-BED5-4018-96FA-319DCC3DA036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1047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58E528-EAAF-440B-9E89-775FFB0EEA65}"/>
              </a:ext>
            </a:extLst>
          </p:cNvPr>
          <p:cNvSpPr>
            <a:spLocks noGrp="1"/>
          </p:cNvSpPr>
          <p:nvPr/>
        </p:nvSpPr>
        <p:spPr>
          <a:xfrm>
            <a:off x="1028700" y="37242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隐藏成本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681B4B-2DD6-4A38-B237-E2E908BBC4E8}"/>
              </a:ext>
            </a:extLst>
          </p:cNvPr>
          <p:cNvSpPr>
            <a:spLocks noGrp="1"/>
          </p:cNvSpPr>
          <p:nvPr/>
        </p:nvSpPr>
        <p:spPr>
          <a:xfrm>
            <a:off x="3238500" y="3743325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硬件、CUDA 版本、SplitK、矩阵 shape、baseline 实现都会影响最终性能数值。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800746-3C2E-4EC5-8C6B-08696BD48A41}"/>
              </a:ext>
            </a:extLst>
          </p:cNvPr>
          <p:cNvSpPr>
            <a:spLocks noGrp="1"/>
          </p:cNvSpPr>
          <p:nvPr/>
        </p:nvSpPr>
        <p:spPr>
          <a:xfrm>
            <a:off x="857250" y="4476750"/>
            <a:ext cx="1047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2E1E8E-73FF-4813-B9C9-A78DFD2EB79F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我的处理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78830D-8EB9-4604-A308-3A18B1C2A106}"/>
              </a:ext>
            </a:extLst>
          </p:cNvPr>
          <p:cNvSpPr>
            <a:spLocks noGrp="1"/>
          </p:cNvSpPr>
          <p:nvPr/>
        </p:nvSpPr>
        <p:spPr>
          <a:xfrm>
            <a:off x="3238500" y="46482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保留完整日志、结果 CSV、图表、patch 和踩坑记录，让复现过程可追溯、可检查。</a:t>
            </a:r>
          </a:p>
        </p:txBody>
      </p:sp>
    </p:spTree>
    <p:extLst>
      <p:ext uri="{BB962C8B-B14F-4D97-AF65-F5344CB8AC3E}">
        <p14:creationId xmlns:p14="http://schemas.microsoft.com/office/powerpoint/2010/main" val="1788637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FD22508-BC7C-4DD1-8C80-1D7235529F2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后续研究方向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3D50F5-59DD-429F-BCF7-AB093623E099}"/>
              </a:ext>
            </a:extLst>
          </p:cNvPr>
          <p:cNvSpPr>
            <a:spLocks noGrp="1"/>
          </p:cNvSpPr>
          <p:nvPr/>
        </p:nvSpPr>
        <p:spPr>
          <a:xfrm>
            <a:off x="628650" y="10001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按投入产出比排序，而不是一上来做最重的端到端实验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F511C6-297F-47DD-A13D-98A042894C5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26C94B-07FD-4E45-9DB5-61C3E22C365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B3100F-A050-414A-A0AB-AD1915543E2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856FE6-661B-4969-8D4B-2A5DDA4FD1D3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300037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F51CB2-AD80-44DD-8080-91DCB8DD92A9}"/>
              </a:ext>
            </a:extLst>
          </p:cNvPr>
          <p:cNvSpPr>
            <a:spLocks noGrp="1"/>
          </p:cNvSpPr>
          <p:nvPr/>
        </p:nvSpPr>
        <p:spPr>
          <a:xfrm>
            <a:off x="4591050" y="1809750"/>
            <a:ext cx="300037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AA4C11-EED5-4AC4-8C03-C383B1DC7EAD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00037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93AD6C-60BE-4345-B495-0C43BEC1C9AD}"/>
              </a:ext>
            </a:extLst>
          </p:cNvPr>
          <p:cNvSpPr>
            <a:spLocks noGrp="1"/>
          </p:cNvSpPr>
          <p:nvPr/>
        </p:nvSpPr>
        <p:spPr>
          <a:xfrm>
            <a:off x="1190625" y="2190750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1. Baseline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78EABC-B538-4ABC-8CD5-97B16B7C33EB}"/>
              </a:ext>
            </a:extLst>
          </p:cNvPr>
          <p:cNvSpPr>
            <a:spLocks noGrp="1"/>
          </p:cNvSpPr>
          <p:nvPr/>
        </p:nvSpPr>
        <p:spPr>
          <a:xfrm>
            <a:off x="1200150" y="2809875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DietGPU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nvCOMP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DFloat11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完善 Figure 11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A83D90-2C35-4314-9A3D-E0BDC711626A}"/>
              </a:ext>
            </a:extLst>
          </p:cNvPr>
          <p:cNvSpPr>
            <a:spLocks noGrp="1"/>
          </p:cNvSpPr>
          <p:nvPr/>
        </p:nvSpPr>
        <p:spPr>
          <a:xfrm>
            <a:off x="4924425" y="2190750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2. Profiling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775874-87BA-4629-9C27-57E51C476BA4}"/>
              </a:ext>
            </a:extLst>
          </p:cNvPr>
          <p:cNvSpPr>
            <a:spLocks noGrp="1"/>
          </p:cNvSpPr>
          <p:nvPr/>
        </p:nvSpPr>
        <p:spPr>
          <a:xfrm>
            <a:off x="4933950" y="2809875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Nsight Compute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显存流量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Tensor Core 利用率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3A31E2-BE1C-4F6D-BE94-2387F4B0E653}"/>
              </a:ext>
            </a:extLst>
          </p:cNvPr>
          <p:cNvSpPr>
            <a:spLocks noGrp="1"/>
          </p:cNvSpPr>
          <p:nvPr/>
        </p:nvSpPr>
        <p:spPr>
          <a:xfrm>
            <a:off x="8658225" y="2190750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3. End-to-end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481698-7320-42AE-A482-7E767A5683FA}"/>
              </a:ext>
            </a:extLst>
          </p:cNvPr>
          <p:cNvSpPr>
            <a:spLocks noGrp="1"/>
          </p:cNvSpPr>
          <p:nvPr/>
        </p:nvSpPr>
        <p:spPr>
          <a:xfrm>
            <a:off x="8667750" y="2809875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下载模型权重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vLLM 集成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吞吐和延迟</a:t>
            </a:r>
          </a:p>
          <a:p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16/17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943B04-FBDB-4C22-9FCB-A63B075891B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394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7AA4E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56FA37-E9CC-4322-84C0-B20FA444DF0F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57A6"/>
                </a:solidFill>
              </a:defRPr>
            </a:pPr>
            <a:r>
              <a:rPr sz="1500" b="1">
                <a:solidFill>
                  <a:srgbClr val="2457A6"/>
                </a:solidFill>
              </a:rPr>
              <a:t>后续实验可行性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BF2F6E-70C7-4C03-BDD6-395DE0D466C6}"/>
              </a:ext>
            </a:extLst>
          </p:cNvPr>
          <p:cNvSpPr>
            <a:spLocks noGrp="1"/>
          </p:cNvSpPr>
          <p:nvPr/>
        </p:nvSpPr>
        <p:spPr>
          <a:xfrm>
            <a:off x="2686050" y="51244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15" b="0">
                <a:solidFill>
                  <a:srgbClr val="111111"/>
                </a:solidFill>
              </a:defRPr>
            </a:pPr>
            <a:r>
              <a:rPr sz="1215" b="0">
                <a:solidFill>
                  <a:srgbClr val="111111"/>
                </a:solidFill>
              </a:rPr>
              <a:t>Baseline：可以尝试但需额外适配；Profiling：取决于 ncu 是否安装和 GPU profiling 权限；End-to-end：需要模型权重、vLLM 集成和较长 GPU 独占时间，因此作为后续工作，不承诺当前已完成。</a:t>
            </a:r>
          </a:p>
        </p:txBody>
      </p:sp>
    </p:spTree>
    <p:extLst>
      <p:ext uri="{BB962C8B-B14F-4D97-AF65-F5344CB8AC3E}">
        <p14:creationId xmlns:p14="http://schemas.microsoft.com/office/powerpoint/2010/main" val="1470450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0A6DE7C-692B-4471-80A8-0C57D26E358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9C4EE1-0D92-46A4-86E1-7F486589511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CCF797-0FCA-47DA-A978-FB590BB7E72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14F3D2-F8BC-42A9-BD24-0F73A548FD3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2DBD9A-339B-45A4-AEA6-1A7FAFF149E3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2667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6DD842-6F60-4EE7-A32C-6399DDD943C4}"/>
              </a:ext>
            </a:extLst>
          </p:cNvPr>
          <p:cNvSpPr>
            <a:spLocks noGrp="1"/>
          </p:cNvSpPr>
          <p:nvPr/>
        </p:nvSpPr>
        <p:spPr>
          <a:xfrm>
            <a:off x="1104900" y="1866900"/>
            <a:ext cx="2362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Paper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6CEE46-1487-4CB6-8B56-DAD208A67ED7}"/>
              </a:ext>
            </a:extLst>
          </p:cNvPr>
          <p:cNvSpPr>
            <a:spLocks noGrp="1"/>
          </p:cNvSpPr>
          <p:nvPr/>
        </p:nvSpPr>
        <p:spPr>
          <a:xfrm>
            <a:off x="1104900" y="229552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理解 ZipServ 的问题、方法和原文结果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A3832B-010C-4CCD-B6B4-02F7A0BB3A51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2667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CDD4FB-1257-449A-8F1E-1615EB5AE8CE}"/>
              </a:ext>
            </a:extLst>
          </p:cNvPr>
          <p:cNvSpPr>
            <a:spLocks noGrp="1"/>
          </p:cNvSpPr>
          <p:nvPr/>
        </p:nvSpPr>
        <p:spPr>
          <a:xfrm>
            <a:off x="4057650" y="1866900"/>
            <a:ext cx="2362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Code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CB14A1-5C3C-4F3C-B073-D78F6FABC37F}"/>
              </a:ext>
            </a:extLst>
          </p:cNvPr>
          <p:cNvSpPr>
            <a:spLocks noGrp="1"/>
          </p:cNvSpPr>
          <p:nvPr/>
        </p:nvSpPr>
        <p:spPr>
          <a:xfrm>
            <a:off x="4057650" y="229552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编译官方代码并做 CUDA 兼容修复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C1BD8A-9FBF-4403-BFFF-150057DA8EC4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314325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307D94-D5CC-4B59-87A6-E59C15C3637B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2838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Experiment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481A13-2266-4932-9EBB-38146F0EEA1E}"/>
              </a:ext>
            </a:extLst>
          </p:cNvPr>
          <p:cNvSpPr>
            <a:spLocks noGrp="1"/>
          </p:cNvSpPr>
          <p:nvPr/>
        </p:nvSpPr>
        <p:spPr>
          <a:xfrm>
            <a:off x="7010400" y="229552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完成 test_mm、decompress、N sweep、shape sweep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955A5F-A969-41BB-A852-E1580E95883C}"/>
              </a:ext>
            </a:extLst>
          </p:cNvPr>
          <p:cNvSpPr>
            <a:spLocks noGrp="1"/>
          </p:cNvSpPr>
          <p:nvPr/>
        </p:nvSpPr>
        <p:spPr>
          <a:xfrm>
            <a:off x="1000125" y="3524250"/>
            <a:ext cx="9810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ZipServ 的价值在于把 lossless compression 从“省存储”推进到“可加速推理”。</a:t>
            </a: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我的复现证明官方 kernel benchmark 可以在当前 L20 服务器上运行，并得到可分析的结果。</a:t>
            </a: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局限是未完整覆盖原文全部 baseline 和端到端系统实验，后续可继续扩展。</a:t>
            </a:r>
          </a:p>
        </p:txBody>
      </p:sp>
    </p:spTree>
    <p:extLst>
      <p:ext uri="{BB962C8B-B14F-4D97-AF65-F5344CB8AC3E}">
        <p14:creationId xmlns:p14="http://schemas.microsoft.com/office/powerpoint/2010/main" val="1255318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AFA4E7A-9C16-9C33-C442-AFE44C323EB7}"/>
              </a:ext>
            </a:extLst>
          </p:cNvPr>
          <p:cNvSpPr>
            <a:spLocks noGrp="1"/>
          </p:cNvSpPr>
          <p:nvPr/>
        </p:nvSpPr>
        <p:spPr>
          <a:xfrm>
            <a:off x="323850" y="1732938"/>
            <a:ext cx="1038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>
                <a:solidFill>
                  <a:srgbClr val="111111"/>
                </a:solidFill>
              </a:defRPr>
            </a:pPr>
            <a:r>
              <a:rPr sz="4000" b="1">
                <a:solidFill>
                  <a:srgbClr val="111111"/>
                </a:solidFill>
              </a:rPr>
              <a:t>感谢聆听</a:t>
            </a:r>
          </a:p>
          <a:p>
            <a:pPr algn="ctr">
              <a:buNone/>
              <a:defRPr sz="2700" b="1">
                <a:solidFill>
                  <a:srgbClr val="111111"/>
                </a:solidFill>
              </a:defRPr>
            </a:pPr>
            <a:endParaRPr sz="4000" b="1">
              <a:solidFill>
                <a:srgbClr val="111111"/>
              </a:solidFill>
            </a:endParaRPr>
          </a:p>
          <a:p>
            <a:pPr algn="ctr">
              <a:buNone/>
              <a:defRPr sz="2700" b="1">
                <a:solidFill>
                  <a:srgbClr val="111111"/>
                </a:solidFill>
              </a:defRPr>
            </a:pPr>
            <a:r>
              <a:rPr sz="4000" b="1">
                <a:solidFill>
                  <a:srgbClr val="111111"/>
                </a:solidFill>
              </a:rPr>
              <a:t>欢迎老师批评指正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BF0585-BB51-42F6-017E-81633410A43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5DC9F4-FBB5-BB0D-84BF-BA9DAD81473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FB1E31-949A-8C98-5193-5C86D7842DF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5188D5-FA12-4F25-40B4-D6D13C5A5B35}"/>
              </a:ext>
            </a:extLst>
          </p:cNvPr>
          <p:cNvSpPr>
            <a:spLocks noGrp="1"/>
          </p:cNvSpPr>
          <p:nvPr/>
        </p:nvSpPr>
        <p:spPr>
          <a:xfrm>
            <a:off x="3316381" y="4655484"/>
            <a:ext cx="439718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545B64"/>
                </a:solidFill>
              </a:defRPr>
            </a:pPr>
            <a:r>
              <a:rPr sz="1400" b="1">
                <a:solidFill>
                  <a:srgbClr val="545B64"/>
                </a:solidFill>
              </a:rPr>
              <a:t>庄子鲲 17420232200656 2026.7.15</a:t>
            </a:r>
          </a:p>
        </p:txBody>
      </p:sp>
    </p:spTree>
    <p:extLst>
      <p:ext uri="{BB962C8B-B14F-4D97-AF65-F5344CB8AC3E}">
        <p14:creationId xmlns:p14="http://schemas.microsoft.com/office/powerpoint/2010/main" val="37709216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Microsoft Office PowerPoint</Application>
  <DocSecurity>0</DocSecurity>
  <PresentationFormat>宽屏</PresentationFormat>
  <Paragraphs>251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Kun Zhuang</cp:lastModifiedBy>
  <cp:revision>1</cp:revision>
  <dcterms:created xsi:type="dcterms:W3CDTF">2026-07-17T20:47:05Z</dcterms:created>
  <dcterms:modified xsi:type="dcterms:W3CDTF">2026-07-17T21:32:33Z</dcterms:modified>
</cp:coreProperties>
</file>