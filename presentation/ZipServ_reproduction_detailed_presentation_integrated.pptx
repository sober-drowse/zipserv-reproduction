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4a4c28f8c14b40" /><Relationship Type="http://schemas.openxmlformats.org/officeDocument/2006/relationships/extended-properties" Target="/docProps/app.xml" Id="R931383b9110a46f6" /><Relationship Type="http://schemas.openxmlformats.org/officeDocument/2006/relationships/officeDocument" Target="/ppt/presentation.xml" Id="Rc8cc49d41bf14a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e4bc4cd1ff44a1"/>
  </p:sldMasterIdLst>
  <p:notesMasterIdLst>
    <p:notesMasterId xmlns:r="http://schemas.openxmlformats.org/officeDocument/2006/relationships" r:id="R36525c1191c64781"/>
  </p:notesMasterIdLst>
  <p:sldIdLst>
    <p:sldId xmlns:r="http://schemas.openxmlformats.org/officeDocument/2006/relationships" id="256" r:id="R0d086f3ddf2d4805"/>
    <p:sldId xmlns:r="http://schemas.openxmlformats.org/officeDocument/2006/relationships" id="257" r:id="Re9dfc19f66a94d8b"/>
    <p:sldId xmlns:r="http://schemas.openxmlformats.org/officeDocument/2006/relationships" id="258" r:id="Read2fa86caf945ce"/>
    <p:sldId xmlns:r="http://schemas.openxmlformats.org/officeDocument/2006/relationships" id="259" r:id="R8eefc3fa82de4a2d"/>
    <p:sldId xmlns:r="http://schemas.openxmlformats.org/officeDocument/2006/relationships" id="260" r:id="R58c6c166c0254885"/>
    <p:sldId xmlns:r="http://schemas.openxmlformats.org/officeDocument/2006/relationships" id="261" r:id="R765d2a0d02524abf"/>
    <p:sldId xmlns:r="http://schemas.openxmlformats.org/officeDocument/2006/relationships" id="262" r:id="R39ef5db63d684ffc"/>
    <p:sldId xmlns:r="http://schemas.openxmlformats.org/officeDocument/2006/relationships" id="263" r:id="R0fb74a3bf7a445ff"/>
    <p:sldId xmlns:r="http://schemas.openxmlformats.org/officeDocument/2006/relationships" id="264" r:id="R6de1766100cf4609"/>
    <p:sldId xmlns:r="http://schemas.openxmlformats.org/officeDocument/2006/relationships" id="265" r:id="R681a01f7dfa549e3"/>
    <p:sldId xmlns:r="http://schemas.openxmlformats.org/officeDocument/2006/relationships" id="266" r:id="Rb3fb685efac54e83"/>
    <p:sldId xmlns:r="http://schemas.openxmlformats.org/officeDocument/2006/relationships" id="267" r:id="R73fa2e23936a4ce4"/>
    <p:sldId xmlns:r="http://schemas.openxmlformats.org/officeDocument/2006/relationships" id="268" r:id="R215bb867d316417b"/>
    <p:sldId xmlns:r="http://schemas.openxmlformats.org/officeDocument/2006/relationships" id="269" r:id="R21f76e6955964047"/>
    <p:sldId xmlns:r="http://schemas.openxmlformats.org/officeDocument/2006/relationships" id="270" r:id="R31839fc56e624eee"/>
    <p:sldId xmlns:r="http://schemas.openxmlformats.org/officeDocument/2006/relationships" id="271" r:id="R0902e39122914aa0"/>
    <p:sldId xmlns:r="http://schemas.openxmlformats.org/officeDocument/2006/relationships" id="272" r:id="Rb8a3fe013f594e37"/>
    <p:sldId xmlns:r="http://schemas.openxmlformats.org/officeDocument/2006/relationships" id="273" r:id="Rafd135e4fd494e7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2bb5b3f40a4a12" /><Relationship Type="http://schemas.openxmlformats.org/officeDocument/2006/relationships/slideMaster" Target="/ppt/slideMasters/slideMaster1.xml" Id="Rbae4bc4cd1ff44a1" /><Relationship Type="http://schemas.openxmlformats.org/officeDocument/2006/relationships/notesMaster" Target="/ppt/notesMasters/notesMaster1.xml" Id="R36525c1191c64781" /><Relationship Type="http://schemas.openxmlformats.org/officeDocument/2006/relationships/presProps" Target="/ppt/presProps.xml" Id="R41e868e47baa47b5" /><Relationship Type="http://schemas.openxmlformats.org/officeDocument/2006/relationships/tableStyles" Target="/ppt/tableStyles.xml" Id="R95c696a7825b460f" /><Relationship Type="http://schemas.openxmlformats.org/officeDocument/2006/relationships/slide" Target="/ppt/slides/slide1.xml" Id="R0d086f3ddf2d4805" /><Relationship Type="http://schemas.openxmlformats.org/officeDocument/2006/relationships/slide" Target="/ppt/slides/slide2.xml" Id="Re9dfc19f66a94d8b" /><Relationship Type="http://schemas.openxmlformats.org/officeDocument/2006/relationships/slide" Target="/ppt/slides/slide3.xml" Id="Read2fa86caf945ce" /><Relationship Type="http://schemas.openxmlformats.org/officeDocument/2006/relationships/slide" Target="/ppt/slides/slide4.xml" Id="R8eefc3fa82de4a2d" /><Relationship Type="http://schemas.openxmlformats.org/officeDocument/2006/relationships/slide" Target="/ppt/slides/slide5.xml" Id="R58c6c166c0254885" /><Relationship Type="http://schemas.openxmlformats.org/officeDocument/2006/relationships/slide" Target="/ppt/slides/slide6.xml" Id="R765d2a0d02524abf" /><Relationship Type="http://schemas.openxmlformats.org/officeDocument/2006/relationships/slide" Target="/ppt/slides/slide7.xml" Id="R39ef5db63d684ffc" /><Relationship Type="http://schemas.openxmlformats.org/officeDocument/2006/relationships/slide" Target="/ppt/slides/slide8.xml" Id="R0fb74a3bf7a445ff" /><Relationship Type="http://schemas.openxmlformats.org/officeDocument/2006/relationships/slide" Target="/ppt/slides/slide9.xml" Id="R6de1766100cf4609" /><Relationship Type="http://schemas.openxmlformats.org/officeDocument/2006/relationships/slide" Target="/ppt/slides/slide10.xml" Id="R681a01f7dfa549e3" /><Relationship Type="http://schemas.openxmlformats.org/officeDocument/2006/relationships/slide" Target="/ppt/slides/slide11.xml" Id="Rb3fb685efac54e83" /><Relationship Type="http://schemas.openxmlformats.org/officeDocument/2006/relationships/slide" Target="/ppt/slides/slide12.xml" Id="R73fa2e23936a4ce4" /><Relationship Type="http://schemas.openxmlformats.org/officeDocument/2006/relationships/slide" Target="/ppt/slides/slide13.xml" Id="R215bb867d316417b" /><Relationship Type="http://schemas.openxmlformats.org/officeDocument/2006/relationships/slide" Target="/ppt/slides/slide14.xml" Id="R21f76e6955964047" /><Relationship Type="http://schemas.openxmlformats.org/officeDocument/2006/relationships/slide" Target="/ppt/slides/slide15.xml" Id="R31839fc56e624eee" /><Relationship Type="http://schemas.openxmlformats.org/officeDocument/2006/relationships/slide" Target="/ppt/slides/slide16.xml" Id="R0902e39122914aa0" /><Relationship Type="http://schemas.openxmlformats.org/officeDocument/2006/relationships/slide" Target="/ppt/slides/slide17.xml" Id="Rb8a3fe013f594e37" /><Relationship Type="http://schemas.openxmlformats.org/officeDocument/2006/relationships/slide" Target="/ppt/slides/slide18.xml" Id="Rafd135e4fd494e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108ef3ad3a4f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b28a25f6a64646" /><Relationship Type="http://schemas.openxmlformats.org/officeDocument/2006/relationships/notesMaster" Target="/ppt/notesMasters/notesMaster1.xml" Id="R4c260799d3c243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905cd7bf7b401c" /><Relationship Type="http://schemas.openxmlformats.org/officeDocument/2006/relationships/notesMaster" Target="/ppt/notesMasters/notesMaster1.xml" Id="Rc4b868f5eabf43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3641721e8f4007" /><Relationship Type="http://schemas.openxmlformats.org/officeDocument/2006/relationships/notesMaster" Target="/ppt/notesMasters/notesMaster1.xml" Id="Ra03171e864c443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4652ff8435409b" /><Relationship Type="http://schemas.openxmlformats.org/officeDocument/2006/relationships/notesMaster" Target="/ppt/notesMasters/notesMaster1.xml" Id="Rb5202445cf5d4c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f6678904ce461b" /><Relationship Type="http://schemas.openxmlformats.org/officeDocument/2006/relationships/notesMaster" Target="/ppt/notesMasters/notesMaster1.xml" Id="R0d4a95ba30b049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cc8ef668a94725" /><Relationship Type="http://schemas.openxmlformats.org/officeDocument/2006/relationships/notesMaster" Target="/ppt/notesMasters/notesMaster1.xml" Id="Refcade7a658748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4a6452131d468f" /><Relationship Type="http://schemas.openxmlformats.org/officeDocument/2006/relationships/notesMaster" Target="/ppt/notesMasters/notesMaster1.xml" Id="Rb6364566a37640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82279354c64740" /><Relationship Type="http://schemas.openxmlformats.org/officeDocument/2006/relationships/notesMaster" Target="/ppt/notesMasters/notesMaster1.xml" Id="R0d08be3183e643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140bf272f8425d" /><Relationship Type="http://schemas.openxmlformats.org/officeDocument/2006/relationships/notesMaster" Target="/ppt/notesMasters/notesMaster1.xml" Id="R8fe040ebd4064e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f95117764544e5" /><Relationship Type="http://schemas.openxmlformats.org/officeDocument/2006/relationships/notesMaster" Target="/ppt/notesMasters/notesMaster1.xml" Id="R19a13855f6d74e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945ebd16b340e6" /><Relationship Type="http://schemas.openxmlformats.org/officeDocument/2006/relationships/notesMaster" Target="/ppt/notesMasters/notesMaster1.xml" Id="R84465817d3dd43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c301efcb1d4ed9" /><Relationship Type="http://schemas.openxmlformats.org/officeDocument/2006/relationships/notesMaster" Target="/ppt/notesMasters/notesMaster1.xml" Id="R04bbb73293fc4de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c6903577a64d41" /><Relationship Type="http://schemas.openxmlformats.org/officeDocument/2006/relationships/notesMaster" Target="/ppt/notesMasters/notesMaster1.xml" Id="R293b6ff23b7341a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52cdb587d3647f8" /><Relationship Type="http://schemas.openxmlformats.org/officeDocument/2006/relationships/notesMaster" Target="/ppt/notesMasters/notesMaster1.xml" Id="R8f5c70dcc55445d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f71d6c2388419a" /><Relationship Type="http://schemas.openxmlformats.org/officeDocument/2006/relationships/notesMaster" Target="/ppt/notesMasters/notesMaster1.xml" Id="R252ae361ca1a4ee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f22b31978684aa0" /><Relationship Type="http://schemas.openxmlformats.org/officeDocument/2006/relationships/notesMaster" Target="/ppt/notesMasters/notesMaster1.xml" Id="R2ec281630a2b456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7b7809a28cf4543" /><Relationship Type="http://schemas.openxmlformats.org/officeDocument/2006/relationships/notesMaster" Target="/ppt/notesMasters/notesMaster1.xml" Id="R5724666811274df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24fbcc28dba481c" /><Relationship Type="http://schemas.openxmlformats.org/officeDocument/2006/relationships/notesMaster" Target="/ppt/notesMasters/notesMaster1.xml" Id="Rb3f6e8a2afa445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da7902a0c043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71e73b890b454f" /><Relationship Type="http://schemas.openxmlformats.org/officeDocument/2006/relationships/slideLayout" Target="/ppt/slideLayouts/slideLayout1.xml" Id="R8f2625ad434b4f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2625ad434b4f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f6015caef4a49" /><Relationship Type="http://schemas.openxmlformats.org/officeDocument/2006/relationships/notesSlide" Target="/ppt/notesSlides/notesSlide1.xml" Id="R3658737f8c2147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e57d9e9294678" /><Relationship Type="http://schemas.openxmlformats.org/officeDocument/2006/relationships/notesSlide" Target="/ppt/notesSlides/notesSlide2.xml" Id="R7d8d8b081a1445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341d0511642e3" /><Relationship Type="http://schemas.openxmlformats.org/officeDocument/2006/relationships/notesSlide" Target="/ppt/notesSlides/notesSlide3.xml" Id="R4c70d37c31b945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96d63361e45db" /><Relationship Type="http://schemas.openxmlformats.org/officeDocument/2006/relationships/notesSlide" Target="/ppt/notesSlides/notesSlide4.xml" Id="Ra2e3882ceaf743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d23fa73274dc9" /><Relationship Type="http://schemas.openxmlformats.org/officeDocument/2006/relationships/notesSlide" Target="/ppt/notesSlides/notesSlide5.xml" Id="R93a39e865b5544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5171eb6f841cb" /><Relationship Type="http://schemas.openxmlformats.org/officeDocument/2006/relationships/notesSlide" Target="/ppt/notesSlides/notesSlide6.xml" Id="R2198fd1be71c42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29e8c88b4470d" /><Relationship Type="http://schemas.openxmlformats.org/officeDocument/2006/relationships/notesSlide" Target="/ppt/notesSlides/notesSlide7.xml" Id="Rc59038d870de42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ad8f3216744aa" /><Relationship Type="http://schemas.openxmlformats.org/officeDocument/2006/relationships/notesSlide" Target="/ppt/notesSlides/notesSlide8.xml" Id="R085c2d43d36f47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6785a2b6d4c5a" /><Relationship Type="http://schemas.openxmlformats.org/officeDocument/2006/relationships/notesSlide" Target="/ppt/notesSlides/notesSlide9.xml" Id="Rf736dd773d834e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3a1bf6f184324" /><Relationship Type="http://schemas.openxmlformats.org/officeDocument/2006/relationships/notesSlide" Target="/ppt/notesSlides/notesSlide10.xml" Id="R448e4d25f46947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bbfecd9eb4b2c" /><Relationship Type="http://schemas.openxmlformats.org/officeDocument/2006/relationships/notesSlide" Target="/ppt/notesSlides/notesSlide11.xml" Id="Rca86e011b39c46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c9d97348b4a6f" /><Relationship Type="http://schemas.openxmlformats.org/officeDocument/2006/relationships/notesSlide" Target="/ppt/notesSlides/notesSlide12.xml" Id="R4aab2d80ba794f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45718ae614cdb" /><Relationship Type="http://schemas.openxmlformats.org/officeDocument/2006/relationships/image" Target="/ppt/media/image.png" Id="R784589b652504593" /><Relationship Type="http://schemas.openxmlformats.org/officeDocument/2006/relationships/image" Target="/ppt/media/image2.png" Id="Re7936da5478b4acc" /><Relationship Type="http://schemas.openxmlformats.org/officeDocument/2006/relationships/notesSlide" Target="/ppt/notesSlides/notesSlide13.xml" Id="Rdf8873f3b91b485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585f94aa443bf" /><Relationship Type="http://schemas.openxmlformats.org/officeDocument/2006/relationships/image" Target="/ppt/media/image3.png" Id="R858714ba6a8f4d6d" /><Relationship Type="http://schemas.openxmlformats.org/officeDocument/2006/relationships/image" Target="/ppt/media/image4.png" Id="Rb69bb9ea491740cb" /><Relationship Type="http://schemas.openxmlformats.org/officeDocument/2006/relationships/notesSlide" Target="/ppt/notesSlides/notesSlide14.xml" Id="Rcfa64f06e53042d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5026b12704e54" /><Relationship Type="http://schemas.openxmlformats.org/officeDocument/2006/relationships/notesSlide" Target="/ppt/notesSlides/notesSlide15.xml" Id="Rf85d35ab6bdf49c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ef0384ad04382" /><Relationship Type="http://schemas.openxmlformats.org/officeDocument/2006/relationships/notesSlide" Target="/ppt/notesSlides/notesSlide16.xml" Id="R29e43a364c274e1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75c2c67ec4b40" /><Relationship Type="http://schemas.openxmlformats.org/officeDocument/2006/relationships/notesSlide" Target="/ppt/notesSlides/notesSlide17.xml" Id="R918db35eb01147d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9b1a010f242b7" /><Relationship Type="http://schemas.openxmlformats.org/officeDocument/2006/relationships/notesSlide" Target="/ppt/notesSlides/notesSlide18.xml" Id="Rfd8141c0e51e4d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D76B21-ACFD-42B0-9031-60D0EB9E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ZipServ 论文复现与结果分析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CCFBC-CB0E-4335-AB5C-5B5FFE9A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45B64"/>
                </a:solidFill>
              </a:defRPr>
            </a:pPr>
            <a:r>
              <a:rPr sz="1425" b="0">
                <a:solidFill>
                  <a:srgbClr val="545B64"/>
                </a:solidFill>
              </a:rPr>
              <a:t>Fast and Memory-Efficient LLM Inference with Hardware-Aware Lossless Compression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6DD5F-DD88-4D2D-912E-B5013308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9810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A1D78-813D-4AC1-9442-152F0997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457A6"/>
                </a:solidFill>
              </a:defRPr>
            </a:pPr>
            <a:r>
              <a:rPr sz="2100" b="1">
                <a:solidFill>
                  <a:srgbClr val="2457A6"/>
                </a:solidFill>
              </a:rPr>
              <a:t>汇报目标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31B2F-ECB1-495D-AFD5-1FB9E977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76625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讲清楚原论文为什么做 ZipServ、怎么做、效果是什么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说明我在 L20 服务器上复现了哪些实验、得到什么结果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分析为什么复现结果不能直接等同于原论文全部结论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81F9B-DD30-4C79-8A1A-A6F3D16F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578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面向：计算机软件工程本科生课程/助研汇报</a:t>
            </a:r>
          </a:p>
        </p:txBody>
      </p:sp>
    </p:spTree>
    <p:extLst>
      <p:ext uri="{BB962C8B-B14F-4D97-AF65-F5344CB8AC3E}">
        <p14:creationId xmlns:p14="http://schemas.microsoft.com/office/powerpoint/2010/main" val="448489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945767-AA7E-4491-A77D-19AE390F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先给一个总览：这篇论文解决的是推理显存和带宽问题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47A39-637B-4E77-A794-1C6A1BC4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大模型越来越大，瓶颈不只是算得快，也包括权重读得快、放得下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2DF4D-AEC8-4989-8B78-0CE19F79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A48B1-850B-416F-AF58-96CD5E80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72C67-EC2B-41DC-BFA5-E2035DC3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C7847-7EB8-4F1D-8C0F-93D655FD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476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219E4-0BBD-47A6-9716-B1E08978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21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LLM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717CE-577E-4A36-BCB1-A822AEFD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90775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Large Language Model，大语言模型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83F12-9652-436B-AD2F-F39BC75E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09750"/>
            <a:ext cx="2762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651E97-C948-4EDB-B0AF-DF77FE61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62150"/>
            <a:ext cx="245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Inference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CA10CB-EB8A-4FB0-B157-C726411E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90775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模型已经训练好，开始生成答案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63E4F2-C303-4B5F-B7DF-12ED45B2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2476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71D23C-24DA-4307-A9C7-6FDB00F4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621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GEMM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A3D3C-CB3C-4D0D-93C4-ACDA13A4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90775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矩阵乘法，是线性层核心计算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FBD733-5DC6-4DBA-8244-A846A477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2095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ACA722-14DE-4E61-A7A1-2E3B17BF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621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8A6400"/>
                </a:solidFill>
              </a:defRPr>
            </a:pPr>
            <a:r>
              <a:rPr sz="2400" b="1">
                <a:solidFill>
                  <a:srgbClr val="8A6400"/>
                </a:solidFill>
              </a:rPr>
              <a:t>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00FFCD-E71B-4F31-A612-9715FD30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9077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权重读写会卡住速度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C757C3-D1A3-4F61-AEBC-62D1EE37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981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大模型推理时，很多时间花在读取巨大的权重矩阵。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如果权重能无损压缩，就能省显存；但如果解压太慢，反而会拖慢推理。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ZipServ 的目标：无损压缩既省空间，又能在 GPU 上加速。</a:t>
            </a:r>
          </a:p>
        </p:txBody>
      </p:sp>
    </p:spTree>
    <p:extLst>
      <p:ext uri="{BB962C8B-B14F-4D97-AF65-F5344CB8AC3E}">
        <p14:creationId xmlns:p14="http://schemas.microsoft.com/office/powerpoint/2010/main" val="13309214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B17AEE-02F3-4AF1-8A21-604B2DA2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本科生视角下需要先理解四个 AI/系统概念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6A0EB-821F-4B59-A231-8F4F80DB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这些概念决定了 ZipServ 为什么不是普通压缩算法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43E71-F959-49A0-B8D3-663A38EA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06116-B030-447C-961E-1478EC8B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73B36-80E4-416A-A357-30727D65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D30A2-904B-4B0F-AC39-093B2C29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78290-10E4-40BB-8AB6-5E25C3C2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57A6"/>
                </a:solidFill>
              </a:defRPr>
            </a:pPr>
            <a:r>
              <a:rPr sz="1800" b="1">
                <a:solidFill>
                  <a:srgbClr val="2457A6"/>
                </a:solidFill>
              </a:rPr>
              <a:t>Token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70E9E-FF88-47F6-B01A-7D877D08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4610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模型处理和生成文本的基本单位。实验里的 N 可以近似理解为一次矩阵乘法中的 token/batch 维度。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080BF2-F768-4E57-B128-A524E441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14500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69275-E37A-449D-9B49-1AD574CB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8595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57A6"/>
                </a:solidFill>
              </a:defRPr>
            </a:pPr>
            <a:r>
              <a:rPr sz="1800" b="1">
                <a:solidFill>
                  <a:srgbClr val="2457A6"/>
                </a:solidFill>
              </a:rPr>
              <a:t>BF16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44AA9-B041-4C7A-8D09-8C98D881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05050"/>
            <a:ext cx="4610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一种 16 位浮点格式，包含 sign、exponent、mantissa。ZipServ 主要利用 exponent 分布集中这一冗余。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C08CA0-DCAF-44F3-AA27-D14B7DAB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AFA7D3-1BF5-489C-8597-6F887856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38575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57A6"/>
                </a:solidFill>
              </a:defRPr>
            </a:pPr>
            <a:r>
              <a:rPr sz="1800" b="1">
                <a:solidFill>
                  <a:srgbClr val="2457A6"/>
                </a:solidFill>
              </a:rPr>
              <a:t>Tensor 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61D67-1748-4E48-9265-B2872073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57675"/>
            <a:ext cx="4610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NVIDIA GPU 中专门加速矩阵乘法的硬件单元。ZipGEMM 要让解压结果直接进入这条计算路径。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66645E-4D5C-4A55-B092-E5E46D39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67125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CDA905-2910-4F55-BEC1-7357EF71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38575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57A6"/>
                </a:solidFill>
              </a:defRPr>
            </a:pPr>
            <a:r>
              <a:rPr sz="1800" b="1">
                <a:solidFill>
                  <a:srgbClr val="2457A6"/>
                </a:solidFill>
              </a:rPr>
              <a:t>SIMT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354BDC-8DCC-4C5C-8A12-50BC18A6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57675"/>
            <a:ext cx="4610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GPU 一个 warp 内多线程执行同一指令。变长编码会造成分支和串行依赖，固定 bitmap 更适合并行。</a:t>
            </a:r>
          </a:p>
        </p:txBody>
      </p:sp>
    </p:spTree>
    <p:extLst>
      <p:ext uri="{BB962C8B-B14F-4D97-AF65-F5344CB8AC3E}">
        <p14:creationId xmlns:p14="http://schemas.microsoft.com/office/powerpoint/2010/main" val="15828874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184FC3-A83F-4181-9E1E-D170E9A4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LLM 推理分成 prefill 和 decode，两阶段瓶颈不同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762B4-482B-46A9-BAEF-09F58916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ZipServ 的 stage-aware 策略就是围绕这一区别设计的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168C5-D0EF-4825-9BFC-3CF54D00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A848F-96F8-4B69-B3E1-B7B08A84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91848-EE13-465A-A589-D97353F5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ECDCE-315F-4F54-A2D7-A0E1558B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81559-1F15-435E-8B3D-369406E3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62125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AFDFA-2300-4B0E-8ABD-16B306B6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669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457A6"/>
                </a:solidFill>
              </a:defRPr>
            </a:pPr>
            <a:r>
              <a:rPr sz="1950" b="1">
                <a:solidFill>
                  <a:srgbClr val="2457A6"/>
                </a:solidFill>
              </a:rPr>
              <a:t>Prefill 阶段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156B2-9134-47E4-9DC9-01FBF6DE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38425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处理输入 prompt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一次并行处理很多 token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计算密度高，更偏 compute-bound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适合 decoupled 解压 + 高吞吐 GEMM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4A23A-A370-4DD7-BEAF-9730D537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669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457A6"/>
                </a:solidFill>
              </a:defRPr>
            </a:pPr>
            <a:r>
              <a:rPr sz="1950" b="1">
                <a:solidFill>
                  <a:srgbClr val="2457A6"/>
                </a:solidFill>
              </a:rPr>
              <a:t>Decode 阶段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852250-A3E2-4BE8-89CE-AA1BDAB3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38425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逐 token 生成输出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每步矩阵较小，读取权重更频繁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更容易 memory-bound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适合 fused ZipGEMM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321FB-B9AF-42BB-B2CD-822C6FF0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45B64"/>
                </a:solidFill>
              </a:defRPr>
            </a:pPr>
            <a:r>
              <a:rPr sz="1425" b="0">
                <a:solidFill>
                  <a:srgbClr val="545B64"/>
                </a:solidFill>
              </a:rPr>
              <a:t>这里的 compute-bound 指算力更紧张；memory-bound 指显存带宽更紧张。ZipServ 主要想解决后者。</a:t>
            </a:r>
          </a:p>
        </p:txBody>
      </p:sp>
    </p:spTree>
    <p:extLst>
      <p:ext uri="{BB962C8B-B14F-4D97-AF65-F5344CB8AC3E}">
        <p14:creationId xmlns:p14="http://schemas.microsoft.com/office/powerpoint/2010/main" val="7821029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1B0F5D-FD68-4D75-A4F1-E4F0F3F0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原论文的动机：传统无损压缩和 GPU 推理不匹配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0DD6B-8E9A-4BA2-838F-5F93411A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压缩格式如果适合存储但不适合 GPU 解码，就很难加速推理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502CC-0440-452E-876C-F42DF0B6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779FA-59B3-4C95-A204-EBA860BF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199E6-A5CC-41DC-B38E-4D654D1C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BE89A-2825-4403-A0A9-D10DFDFC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3143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27E64-621B-4CCD-A70E-C1C7A6FD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3143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55CBD-CC06-481A-BD3C-17206882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62125"/>
            <a:ext cx="3143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874BA-3CE1-41A3-BE66-D0D699F9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9B1C1C"/>
                </a:solidFill>
              </a:defRPr>
            </a:pPr>
            <a:r>
              <a:rPr sz="1875" b="1">
                <a:solidFill>
                  <a:srgbClr val="9B1C1C"/>
                </a:solidFill>
              </a:rPr>
              <a:t>变量长编码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CE6A55-B41B-4F0C-9BAA-64803B44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714625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Huffman/ANS 符号长度不同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线程无法完全独立推进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warp 内分支和串行依赖增加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5CB8DF-9D61-4AE4-94FA-54813F4A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14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9B1C1C"/>
                </a:solidFill>
              </a:defRPr>
            </a:pPr>
            <a:r>
              <a:rPr sz="1875" b="1">
                <a:solidFill>
                  <a:srgbClr val="9B1C1C"/>
                </a:solidFill>
              </a:rPr>
              <a:t>解压和 GEMM 分离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2D6F6-817C-4EC7-B78C-F20C4454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714625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先解压到 global memory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再由 GEMM 读取完整权重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额外 memory traffic 抵消收益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3D8E6-FC39-4F9C-891A-235203A6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145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457A6"/>
                </a:solidFill>
              </a:defRPr>
            </a:pPr>
            <a:r>
              <a:rPr sz="1875" b="1">
                <a:solidFill>
                  <a:srgbClr val="2457A6"/>
                </a:solidFill>
              </a:rPr>
              <a:t>原文观察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D150C5-4C47-48E3-A84D-EC30929E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714625"/>
            <a:ext cx="2333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decoupled 解压耗时可达核心计算的 1.56-3.44x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不是无损压缩没用，而是实现方式不适合 GPU</a:t>
            </a:r>
          </a:p>
        </p:txBody>
      </p:sp>
    </p:spTree>
    <p:extLst>
      <p:ext uri="{BB962C8B-B14F-4D97-AF65-F5344CB8AC3E}">
        <p14:creationId xmlns:p14="http://schemas.microsoft.com/office/powerpoint/2010/main" val="11027746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E3918A-5605-414C-B098-FE5DDAAE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ZipServ 的核心答案：TCA-TBE + ZipGEMM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CBAF9-7FD1-4186-BAB6-40D01B80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把压缩格式和 GPU 执行模型一起设计，而不是先压缩再硬接入推理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C8483-7E2C-4016-908F-4BEC041A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CEF5F-7AD5-4E94-B24A-8FE1BEFB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B8A47-E1A3-47AA-85E6-98F70D84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949AF-CEEC-417D-9BD3-84E9A8BD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762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50A09-45F9-4985-AB40-68113EA0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809750"/>
            <a:ext cx="2762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E3B96-14F9-46FC-8045-7D6B6816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762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4B2F0-0A77-41C0-A376-24A0E105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457A6"/>
                </a:solidFill>
              </a:defRPr>
            </a:pPr>
            <a:r>
              <a:rPr sz="2250" b="1">
                <a:solidFill>
                  <a:srgbClr val="2457A6"/>
                </a:solidFill>
              </a:rPr>
              <a:t>TCA-TBE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6E7C6-D561-41B8-A883-2DE9E886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固定长度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triple bitmap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常数时间并行解码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35ECB-98F0-4DF2-A137-384CB6AE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190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457A6"/>
                </a:solidFill>
              </a:defRPr>
            </a:pPr>
            <a:r>
              <a:rPr sz="2250" b="1">
                <a:solidFill>
                  <a:srgbClr val="2457A6"/>
                </a:solidFill>
              </a:rPr>
              <a:t>ZipGEMM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603C0-7A51-4606-BE88-86CDF206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5750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边读压缩权重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边在寄存器中恢复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直接进入 Tensor 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4A0C2-5C9A-4173-B887-3A8BE8BB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90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457A6"/>
                </a:solidFill>
              </a:defRPr>
            </a:pPr>
            <a:r>
              <a:rPr sz="2250" b="1">
                <a:solidFill>
                  <a:srgbClr val="2457A6"/>
                </a:solidFill>
              </a:rPr>
              <a:t>Stage-aware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1744C0-6516-4030-8EFB-94B2B94F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prefill 用 decoupled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decode 用 fused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按阶段选择最合适路径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9067C-3712-49F9-A699-0ECDD49F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09587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D7F5F"/>
                </a:solidFill>
              </a:defRPr>
            </a:pPr>
            <a:r>
              <a:rPr sz="2250" b="1">
                <a:solidFill>
                  <a:srgbClr val="1D7F5F"/>
                </a:solidFill>
              </a:rPr>
              <a:t>一句话：load-compressed, compute-decompressed。</a:t>
            </a:r>
          </a:p>
        </p:txBody>
      </p:sp>
    </p:spTree>
    <p:extLst>
      <p:ext uri="{BB962C8B-B14F-4D97-AF65-F5344CB8AC3E}">
        <p14:creationId xmlns:p14="http://schemas.microsoft.com/office/powerpoint/2010/main" val="14794215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2534FE-3FDB-483A-9626-54B77BF0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TCA-TBE 利用的是 BF16 exponent 的统计冗余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E62C5-BBBE-4CE5-96CF-E7A582EF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论文发现 LLM 权重的 exponent 不是均匀分布，而是集中在少数值附近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0549C-EA38-4BA0-9D13-04985EF0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253B6-4976-47D6-BC85-500FCEF2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0A9FC-CF7D-4234-914F-F15B2DFA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4E1F2-827D-4BD0-B037-F2D40469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2857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3F3AE-6DAC-43FB-95F0-364DC21C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14525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2.57-2.74 bits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15E4C-4EDA-4968-8429-701E4C7D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论文报告的 exponent 信息熵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BD4A0-A953-4E31-AC7B-4A2DF580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2667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647E7-2C3B-4899-919E-5BE493F8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14525"/>
            <a:ext cx="236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1.51x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B081A-36AD-4FB1-88A4-4FF35417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理论 BF16 无损压缩率估计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A1CE8B-E928-4140-92DF-2D514C4E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62125"/>
            <a:ext cx="2000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21CA0-E62E-4110-A1E6-D1E91C8E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14525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8 x 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A3219-2DEE-4B20-921E-EBF9FE8E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431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TCA-TBE tile 粒度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757DF6-D5DF-4785-8000-56694F52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62125"/>
            <a:ext cx="2000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F3C98-3358-4756-992B-F0B72536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14525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3 bit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A5B6F4-CB60-4185-BE02-74EBF69E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431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base exponent + offset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F0EAF1-9300-4151-8C26-76EA421F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990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BF16 有 1 位 sign、8 位 exponent、7 位 mantissa。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如果大多数 exponent 只落在少数连续值附近，就可以用 base + offset 表示。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triple bitmap 把 3-bit code 拆成三张 64-bit bitmap，更适合 GPU 对齐访问和并行解码。</a:t>
            </a:r>
          </a:p>
        </p:txBody>
      </p:sp>
    </p:spTree>
    <p:extLst>
      <p:ext uri="{BB962C8B-B14F-4D97-AF65-F5344CB8AC3E}">
        <p14:creationId xmlns:p14="http://schemas.microsoft.com/office/powerpoint/2010/main" val="12082794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B7505B-9C80-4E0F-9A17-A7C6FE3D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ZipGEMM 把解压隐藏在矩阵乘法路径里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03755-33F4-4ED8-8CD2-CE3942C5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目标是减少 global memory 中间结果，而不是单独追求解压速度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11546-58C2-462B-842C-D536B060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ED1C9-DCEC-4C76-A64E-F9513E78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8E444-E8C9-4265-B37F-FE1DA3A5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3D51B-DBF5-4BD3-8A1A-720B931B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486F9-2D6D-47EF-9950-740EEE59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62125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80E50-E7A0-4D6B-AA44-423EB04D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669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457A6"/>
                </a:solidFill>
              </a:defRPr>
            </a:pPr>
            <a:r>
              <a:rPr sz="1950" b="1">
                <a:solidFill>
                  <a:srgbClr val="2457A6"/>
                </a:solidFill>
              </a:rPr>
              <a:t>传统 decoupled pipeline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D5571-BB39-48D0-B0F9-B332C819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38425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读压缩权重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先解压出完整权重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写回 global memory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GEMM 再读一次权重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97DF5C-6B17-4699-A60F-D3731F3B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669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457A6"/>
                </a:solidFill>
              </a:defRPr>
            </a:pPr>
            <a:r>
              <a:rPr sz="1950" b="1">
                <a:solidFill>
                  <a:srgbClr val="2457A6"/>
                </a:solidFill>
              </a:rPr>
              <a:t>ZipGEMM fused pipeline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036DC-A242-43CA-8476-3A40D820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38425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读压缩权重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shared/register 中解压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直接送入 Tensor Core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减少显存流量，提高 compute intensity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E4A68-AB71-404B-ADB9-F8917C76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45B64"/>
                </a:solidFill>
              </a:defRPr>
            </a:pPr>
            <a:r>
              <a:rPr sz="1500" b="0">
                <a:solidFill>
                  <a:srgbClr val="545B64"/>
                </a:solidFill>
              </a:rPr>
              <a:t>直观理解：ZipGEMM 不把解压后的完整权重“放回仓库”，而是在送上计算单元前就地恢复。</a:t>
            </a:r>
          </a:p>
        </p:txBody>
      </p:sp>
    </p:spTree>
    <p:extLst>
      <p:ext uri="{BB962C8B-B14F-4D97-AF65-F5344CB8AC3E}">
        <p14:creationId xmlns:p14="http://schemas.microsoft.com/office/powerpoint/2010/main" val="16930987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6B38BD-732B-48A6-A81D-52096020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原论文宣称的主要成果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68B53-1B7A-486A-BC79-42C1958E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这些是 PPT 里需要先讲清楚的 paper result，不是本次复现结果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A0809-BDDD-46F2-83D5-508E7A12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FFE4A-DDA7-414C-AF60-D9E33F32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DA01E-A448-4B81-BFE3-F5396361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0137D-4288-48C5-9581-A2DEB14A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24288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1AA48-56D6-4011-8395-721E4822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914525"/>
            <a:ext cx="2124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D7F5F"/>
                </a:solidFill>
              </a:defRPr>
            </a:pPr>
            <a:r>
              <a:rPr sz="2400" b="1">
                <a:solidFill>
                  <a:srgbClr val="1D7F5F"/>
                </a:solidFill>
              </a:rPr>
              <a:t>up to 30%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2D073-D625-42FF-BE9F-6FB010E5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43150"/>
            <a:ext cx="2124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model size reduction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76E1B-04B5-46D1-9DA6-9118DA93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62125"/>
            <a:ext cx="2571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30CDF-8031-498D-B43E-613BED22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14525"/>
            <a:ext cx="226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D7F5F"/>
                </a:solidFill>
              </a:defRPr>
            </a:pPr>
            <a:r>
              <a:rPr sz="2400" b="1">
                <a:solidFill>
                  <a:srgbClr val="1D7F5F"/>
                </a:solidFill>
              </a:rPr>
              <a:t>up to 2.21x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C0754-385B-4335-BF07-8AC3BD06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431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kernel speedup over cuBLAS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8F43D1-2B13-48DE-ACD6-87FE9DF1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24288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32C0F-D251-45C3-9D34-8570A0E4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14525"/>
            <a:ext cx="2124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D7F5F"/>
                </a:solidFill>
              </a:defRPr>
            </a:pPr>
            <a:r>
              <a:rPr sz="2400" b="1">
                <a:solidFill>
                  <a:srgbClr val="1D7F5F"/>
                </a:solidFill>
              </a:rPr>
              <a:t>up to 5.53x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E79E8-5351-4868-BEDC-77AE39F6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43150"/>
            <a:ext cx="2124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speedup over DFloat11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BC20EA-0473-4046-9300-532D7E4D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62125"/>
            <a:ext cx="24288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84DA67-61CC-438D-8BA8-8D00DCC2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914525"/>
            <a:ext cx="2124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D7F5F"/>
                </a:solidFill>
              </a:defRPr>
            </a:pPr>
            <a:r>
              <a:rPr sz="2400" b="1">
                <a:solidFill>
                  <a:srgbClr val="1D7F5F"/>
                </a:solidFill>
              </a:rPr>
              <a:t>avg 1.22x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94B9A3-C550-476C-A11C-F2348C8F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343150"/>
            <a:ext cx="2124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end-to-end speedup over vLLM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0966BB-C976-4FFF-86E4-D78CCAA5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990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端到端实验覆盖 LLaMA3.1-8B、Mistral-24B、LLaMA3.1-70B 等模型。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论文还报告权重 footprint 约降到 71%-72%，节省显存可用于扩大 KV cache。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论文也承认在 A100/H800 这类 HBM 更强的训练型 GPU 上，ZipGEMM 不一定超过 cuBLAS。</a:t>
            </a:r>
          </a:p>
        </p:txBody>
      </p:sp>
    </p:spTree>
    <p:extLst>
      <p:ext uri="{BB962C8B-B14F-4D97-AF65-F5344CB8AC3E}">
        <p14:creationId xmlns:p14="http://schemas.microsoft.com/office/powerpoint/2010/main" val="7719769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8CF095-9B3B-41BD-B537-61F4AD97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我的复现范围：先完成官方 kernel benchmark 的可追溯闭环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50B35-8197-49B2-9DF3-03CF4C22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受硬件和时间限制，重点复现最能落地的 CUDA benchmark 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36341-1A3E-4CE6-95EF-82FE42F9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DBD39-1010-415F-A16E-4CDFF545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F7DF0-7FAF-42E3-B11D-70DE9D82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089C8-0EB6-4319-AEB2-36473A6A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1057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28482-895C-4606-9B76-798E0CBF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192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工程代码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0D31D-AF93-4451-ABFD-0A73A977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3832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code/ZipServ_ASPLOS26_patched/，保存经过 CUDA 12.0 兼容修复的完整官方工程。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AD433-9B15-439A-A8B2-D6728459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057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01877-8609-4934-B96E-83EDA100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812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一键编译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DD15C-8EB7-4D54-BB96-F8064BAD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0032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scripts/setup_zipserv.sh，可编译 libL_API.so、test_mm、test_decompress。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DA9B7-2F2A-4C18-8E00-AF22F1E7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1057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61D35-41C9-49AD-BE42-C01743DA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432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最小实验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562DB-D932-436C-8730-7FC369D4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6232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test_mm 4096 4096 128 1，日志保存在 logs/experiments/。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981017-498A-4148-A2BF-DD803C88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1057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49F356-231F-4196-ACAE-E4D79778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052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解压实验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EE599C-4516-4D82-9EF7-47685F2E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2432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test_decompress 128 128 128，验证解压结果 100% identical。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D4616E-61F1-4529-8409-C4491CE5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1057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0F7681-0CB4-4C78-9762-6B52151B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672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批量实验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60BE5C-79ED-4687-93D4-C839F96A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8632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N sweep 和 shape sweep，自动生成 CSV、Markdown 摘要和 PNG/PDF 图表。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D6E563-A96D-432F-9B34-03F0052B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85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AA4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07C0F4-AAC8-4978-B12D-8F4CE874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483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7A6"/>
                </a:solidFill>
              </a:defRPr>
            </a:pPr>
            <a:r>
              <a:rPr sz="1500" b="1">
                <a:solidFill>
                  <a:srgbClr val="2457A6"/>
                </a:solidFill>
              </a:rPr>
              <a:t>汇报口径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4B82C5-A070-499E-A251-B80B2997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29275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官方仓库支持 ZipServ kernel benchmark 和 cuBLAS 对比；DietGPU、nvCOMP、DFloat11、vLLM 等外部 baseline 需要额外获取、编译和适配，所以本次优先完成官方代码支持的 kernel-level 实验。</a:t>
            </a:r>
          </a:p>
        </p:txBody>
      </p:sp>
    </p:spTree>
    <p:extLst>
      <p:ext uri="{BB962C8B-B14F-4D97-AF65-F5344CB8AC3E}">
        <p14:creationId xmlns:p14="http://schemas.microsoft.com/office/powerpoint/2010/main" val="3980981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1F113A-928D-433F-AFAC-B02ED7B2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服务器环境与兼容性修改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DEB83-89A2-4745-BF87-C2316295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真正复现时，工程问题往往比论文公式更先挡路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1ECA0-86B0-485B-B207-6AB55E89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ACBF2-C6F6-4679-B103-BC6EFC61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49176-2A14-4B41-AC63-FA1DE030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3EBC0-2739-4805-B7BC-B24E94A9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2571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2D479-AB25-49B6-BA7D-BC078D3A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819275"/>
            <a:ext cx="226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NVIDIA L20 x2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16FED-2C64-4AEA-B4B2-86D11518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2479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current GPU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A265BE-1FD2-4ED2-9087-00BC97BC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66875"/>
            <a:ext cx="2381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A7FD1-414B-45CB-9C8C-9977D7EE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819275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CUDA 12.0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5D439-E3F9-44CF-85A3-E4217181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2479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nvcc at /usr/bin/nvcc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FE3C3-925E-457E-B875-23FE1DED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2190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E791F-337E-4682-87F7-F541D7E1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819275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gcc 13.3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0AD98E-C49C-44A7-96A6-7D8F8AB2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2479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make 4.3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250C2-D453-46D7-B962-AD838172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66875"/>
            <a:ext cx="2381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1ABDFE-9329-40FA-8F2A-B3902B5B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819275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conda zipserv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83796-F89A-4327-AF38-4DBE1AB4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2479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Python 3.10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3D65D1-23EE-4780-BC8E-D1EA0124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990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GitHub HTTPS 不稳定：改用 SSH 克隆和推送。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官方 Makefile 默认 /usr/local/cuda：脚本里显式传 CUDA_INSTALL_PATH=/usr CUDA_HOME=/usr。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CUDA 12.0 下 BF16 intrinsic host/device 不兼容：增加 host 端 std::memcpy bit 转换函数。</a:t>
            </a:r>
          </a:p>
        </p:txBody>
      </p:sp>
    </p:spTree>
    <p:extLst>
      <p:ext uri="{BB962C8B-B14F-4D97-AF65-F5344CB8AC3E}">
        <p14:creationId xmlns:p14="http://schemas.microsoft.com/office/powerpoint/2010/main" val="6673754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DCD75B-A0B4-4BE9-94C8-79C5345B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最小实验验证：代码能编译，解压保持 lossless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C0A07-2725-44D8-B0D5-F6FB320D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这是后续 sweep 实验的基础，不直接代表论文全部主结论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CC2F9-D812-4E21-8571-D5D6E94B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55A42-F298-4187-94DC-31AEB14C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FF221-7F73-4AC9-BC08-616EE7E7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4A34A-57F1-4488-B699-94DD6017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4288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895C3-0DA3-4A0C-8463-FDAFDB2F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866900"/>
            <a:ext cx="2124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0.139 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E5441-3530-49ED-B478-785B4340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295525"/>
            <a:ext cx="2124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test_mm ZipServ latency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CD3B3-1AD5-4BE6-8DC1-14023F8A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714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24084-304F-4F8A-9D16-2BE4B881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66900"/>
            <a:ext cx="2409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30.88 TFLOPs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513F3-4C2A-4554-81C7-7C8E0284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95525"/>
            <a:ext cx="2409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test_mm ZipServ throughput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6E9F2-69EB-4886-957C-E6F71F7B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14500"/>
            <a:ext cx="2286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561885-FEA4-45EF-8AE1-2AB63FD3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86690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D7F5F"/>
                </a:solidFill>
              </a:defRPr>
            </a:pPr>
            <a:r>
              <a:rPr sz="2400" b="1">
                <a:solidFill>
                  <a:srgbClr val="1D7F5F"/>
                </a:solidFill>
              </a:rPr>
              <a:t>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683FDB-2735-40E3-81E9-136D8B00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29552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decompression identical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22B4F-66EB-4945-876B-737B21EC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14500"/>
            <a:ext cx="2286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BA0A6-3859-4B7D-BEEC-143E8FFB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86690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D7F5F"/>
                </a:solidFill>
              </a:defRPr>
            </a:pPr>
            <a:r>
              <a:rPr sz="2400" b="1">
                <a:solidFill>
                  <a:srgbClr val="1D7F5F"/>
                </a:solidFill>
              </a:rPr>
              <a:t>0 error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03681A-D53A-4709-8F64-377A3007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29552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decompress absolute error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7149DE-45A2-44A2-9DEF-82A6BFAF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test_mm 4096 4096 128 1：可以输出 ZipServ、cuBLAS_TC、cuBLAS_non-TC 的时间和 TFLOPs。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test_decompress 128 128 128：原始矩阵和解压矩阵 16384 个元素完全一致。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说明官方 kernel benchmark 在当前服务器上已经跑通。</a:t>
            </a:r>
          </a:p>
        </p:txBody>
      </p:sp>
    </p:spTree>
    <p:extLst>
      <p:ext uri="{BB962C8B-B14F-4D97-AF65-F5344CB8AC3E}">
        <p14:creationId xmlns:p14="http://schemas.microsoft.com/office/powerpoint/2010/main" val="803131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D823E4-FC47-4C39-A6CD-6128BD57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N sweep：在 L20 上观察不同 token/batch 维度下的趋势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7900E-F3F7-4047-8525-74BBE86F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固定 M=4096, K=4096, SplitK=1，扫描 N=1 到 512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3668F-2327-469A-8BF4-7B36FFAE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137F0-7D25-4A12-9250-C2FD422C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46C13-00EE-4519-9A4B-80300219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589b652504593"/>
          <a:stretch xmlns:a="http://schemas.openxmlformats.org/drawingml/2006/main"/>
        </p:blipFill>
        <p:spPr>
          <a:xfrm xmlns:a="http://schemas.openxmlformats.org/drawingml/2006/main">
            <a:off x="666750" y="1862138"/>
            <a:ext cx="5143500" cy="30861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936da5478b4acc"/>
          <a:stretch xmlns:a="http://schemas.openxmlformats.org/drawingml/2006/main"/>
        </p:blipFill>
        <p:spPr>
          <a:xfrm xmlns:a="http://schemas.openxmlformats.org/drawingml/2006/main">
            <a:off x="6191250" y="1919288"/>
            <a:ext cx="4953000" cy="2971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02763-7F28-48A5-8827-A96F3D4C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观察：本次 L20 结果中 ZipServ 没有超过 cuBLAS_TC，但明显快于 cuBLAS_non-TC；说明硬件和 shape 会影响收益。</a:t>
            </a:r>
          </a:p>
        </p:txBody>
      </p:sp>
    </p:spTree>
    <p:extLst>
      <p:ext uri="{BB962C8B-B14F-4D97-AF65-F5344CB8AC3E}">
        <p14:creationId xmlns:p14="http://schemas.microsoft.com/office/powerpoint/2010/main" val="12425520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27D36B-A20A-4F51-91C0-CDB10562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Shape sweep：部分 FFN GateUp 类形状出现加速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D359D-C130-4F96-9CD9-5D7D7FEE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这更接近论文 Figure 11 的 kernel-level 主对比逻辑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BB129-E097-48AD-AFFE-C1FE5F59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4E439-2FC7-4DEB-BF84-3137B48C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47308-44DD-4BA3-A344-1F524A1D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714ba6a8f4d6d"/>
          <a:stretch xmlns:a="http://schemas.openxmlformats.org/drawingml/2006/main"/>
        </p:blipFill>
        <p:spPr>
          <a:xfrm xmlns:a="http://schemas.openxmlformats.org/drawingml/2006/main">
            <a:off x="666750" y="2033588"/>
            <a:ext cx="5143500" cy="27432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9bb9ea491740cb"/>
          <a:stretch xmlns:a="http://schemas.openxmlformats.org/drawingml/2006/main"/>
        </p:blipFill>
        <p:spPr>
          <a:xfrm xmlns:a="http://schemas.openxmlformats.org/drawingml/2006/main">
            <a:off x="6191250" y="2006693"/>
            <a:ext cx="4953000" cy="279698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5FE2A-1D68-4F50-8D6E-03F7DE1C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观察：11008x4096 和 28672x4096 两个 GateUp-like shape 相对 cuBLAS_TC speedup 分别约 1.40 和 1.28。</a:t>
            </a:r>
          </a:p>
        </p:txBody>
      </p:sp>
    </p:spTree>
    <p:extLst>
      <p:ext uri="{BB962C8B-B14F-4D97-AF65-F5344CB8AC3E}">
        <p14:creationId xmlns:p14="http://schemas.microsoft.com/office/powerpoint/2010/main" val="21471240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FBAE93-49DD-4451-AFDE-3375BBD3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复现结果和原论文结果不完全一致是合理的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E1E18-6177-466F-B3D0-34EE286B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关键是解释差异来源，而不是只报成功数字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5497B-7994-49D9-9C92-CB22258E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CD7BB-64F0-414E-9FF1-2DFCAE91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92C18-92EC-4164-B9C3-A79E6550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8F0B5-55F1-41B0-9E2D-CAACA9C1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7DD15-9656-4D08-BA09-ECF3F851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14500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B0793-5803-4C09-A5C9-5A4563D5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457A6"/>
                </a:solidFill>
              </a:defRPr>
            </a:pPr>
            <a:r>
              <a:rPr sz="1950" b="1">
                <a:solidFill>
                  <a:srgbClr val="2457A6"/>
                </a:solidFill>
              </a:rPr>
              <a:t>原论文条件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161D1B-1EF3-4D74-ACFD-FA47A997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RTX4090 / L40S / RTX5090 / A100 / H800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包含 DietGPU、nvCOMP、DFloat11 等 baseline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包含 vLLM 端到端推理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覆盖更多模型和 layer shape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8CB4E-597B-45A1-8431-61C862D6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19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457A6"/>
                </a:solidFill>
              </a:defRPr>
            </a:pPr>
            <a:r>
              <a:rPr sz="1950" b="1">
                <a:solidFill>
                  <a:srgbClr val="2457A6"/>
                </a:solidFill>
              </a:rPr>
              <a:t>本次复现条件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1E41C2-9D19-4322-AC2B-EAEB7B55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9080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NVIDIA L20 服务器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官方 benchmark 内置 cuBLAS 对比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kernel-level 实验为主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选取代表性 shape 和 N sweep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27A38-7518-4BDE-80F9-C14738CE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45B64"/>
                </a:solidFill>
              </a:defRPr>
            </a:pPr>
            <a:r>
              <a:rPr sz="1500" b="0">
                <a:solidFill>
                  <a:srgbClr val="545B64"/>
                </a:solidFill>
              </a:rPr>
              <a:t>所以本次结论更适合表述为：完成可追溯的 kernel-level 简化复现，并验证部分形状下的趋势。</a:t>
            </a:r>
          </a:p>
        </p:txBody>
      </p:sp>
    </p:spTree>
    <p:extLst>
      <p:ext uri="{BB962C8B-B14F-4D97-AF65-F5344CB8AC3E}">
        <p14:creationId xmlns:p14="http://schemas.microsoft.com/office/powerpoint/2010/main" val="15045122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4A8A18-B146-4138-AF3B-92873919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可复现性评价：kernel 部分较好，系统级部分门槛较高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946E9-741D-41AF-AA6D-85870FFF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这部分可以作为老师提问时的回答重点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1F112-E828-4E1D-9A8A-85FAAE22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30E71-8468-46C7-8808-F5158712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7BD2D-05CE-4F4C-AA8B-F1B08C60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69753-2951-4481-8A24-A5AE9855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47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006C1-911D-4319-AB80-00A9B4EA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145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代码完整性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812C6-9B96-4487-89E5-38B1059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33575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官方仓库提供 kernel benchmark，但在当前 CUDA 12.0 环境中需要额外兼容性修改。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D9420-82C1-41C1-9327-A1BA1515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047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3E88E-A755-4381-BCAE-96E5E0AE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实验描述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0B34B-419E-4FAE-9F21-E361D9B6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384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论文核心思想清楚，但完整复刻 Figure 11/16/17 还需要更多 baseline、模型权重和配置细节。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B1816-BED5-4018-96FA-319DCC3D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1047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58E528-EAAF-440B-9E89-775FFB0E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242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隐藏成本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81B4B-2DD6-4A38-B237-E2E908BB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43325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硬件、CUDA 版本、SplitK、矩阵 shape、baseline 实现都会影响最终性能数值。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800746-3C2E-4EC5-8C6B-08696BD4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047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2E1E8E-73FF-4813-B9C9-A78DFD2E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我的处理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78830D-8EB9-4604-A308-3A18B1C2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482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保留完整日志、结果 CSV、图表、patch 和踩坑记录，让复现过程可追溯、可检查。</a:t>
            </a:r>
          </a:p>
        </p:txBody>
      </p:sp>
    </p:spTree>
    <p:extLst>
      <p:ext uri="{BB962C8B-B14F-4D97-AF65-F5344CB8AC3E}">
        <p14:creationId xmlns:p14="http://schemas.microsoft.com/office/powerpoint/2010/main" val="17886372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D22508-BC7C-4DD1-8C80-1D723552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如果继续做，优先补三类实验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D50F5-59DD-429F-BCF7-AB093623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按投入产出比排序，而不是一上来做最重的端到端实验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511C6-297F-47DD-A13D-98A04289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6C94B-07FD-4E45-9DB5-61C3E22C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3100F-A050-414A-A0AB-AD191554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56FE6-661B-4969-8D4B-2A5DDA4F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000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51CB2-AD80-44DD-8080-91DCB8DD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09750"/>
            <a:ext cx="3000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A4C11-EED5-4AC4-8C03-C383B1DC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000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3AD6C-60BE-4345-B495-0C43BEC1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457A6"/>
                </a:solidFill>
              </a:defRPr>
            </a:pPr>
            <a:r>
              <a:rPr sz="2100" b="1">
                <a:solidFill>
                  <a:srgbClr val="2457A6"/>
                </a:solidFill>
              </a:rPr>
              <a:t>1.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8EABC-B538-4ABC-8CD5-97B16B7C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09875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补 DietGPU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补 nvCOMP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补 DFloat11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完善 Figure 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83D90-2C35-4314-9A3D-E0BDC711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19075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457A6"/>
                </a:solidFill>
              </a:defRPr>
            </a:pPr>
            <a:r>
              <a:rPr sz="2100" b="1">
                <a:solidFill>
                  <a:srgbClr val="2457A6"/>
                </a:solidFill>
              </a:rPr>
              <a:t>2. Profiling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775874-87BA-4629-9C27-57E51C47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09875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Nsight Compute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显存流量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Tensor Core 利用率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复刻 Figure 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3A31E2-BE1C-4F6D-BE94-2387F4B0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19075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457A6"/>
                </a:solidFill>
              </a:defRPr>
            </a:pPr>
            <a:r>
              <a:rPr sz="2100" b="1">
                <a:solidFill>
                  <a:srgbClr val="2457A6"/>
                </a:solidFill>
              </a:rPr>
              <a:t>3. End-to-end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81698-7320-42AE-A482-7E767A56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9875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下载模型权重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vLLM 集成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吞吐和延迟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复刻 Figure 16/17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943B04-FBDB-4C22-9FCB-A63B0758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39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AA4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56FA37-E9CC-4322-84C0-B20FA444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7A6"/>
                </a:solidFill>
              </a:defRPr>
            </a:pPr>
            <a:r>
              <a:rPr sz="1500" b="1">
                <a:solidFill>
                  <a:srgbClr val="2457A6"/>
                </a:solidFill>
              </a:rPr>
              <a:t>后续实验可行性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BF2F6E-70C7-4C03-BDD6-395DE0D4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24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111111"/>
                </a:solidFill>
              </a:defRPr>
            </a:pPr>
            <a:r>
              <a:rPr sz="1215" b="0">
                <a:solidFill>
                  <a:srgbClr val="111111"/>
                </a:solidFill>
              </a:rPr>
              <a:t>Baseline：可以尝试但需额外适配；Profiling：取决于 ncu 是否安装和 GPU profiling 权限；End-to-end：需要模型权重、vLLM 集成和较长 GPU 独占时间，因此作为后续工作，不承诺当前已完成。</a:t>
            </a:r>
          </a:p>
        </p:txBody>
      </p:sp>
    </p:spTree>
    <p:extLst>
      <p:ext uri="{BB962C8B-B14F-4D97-AF65-F5344CB8AC3E}">
        <p14:creationId xmlns:p14="http://schemas.microsoft.com/office/powerpoint/2010/main" val="14704506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A6DE7C-692B-4471-80A8-0C57D26E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总结：我完成的是一个可信的复现闭环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A0839-0E5D-4A80-A507-005EBA87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从论文理解到服务器实验，再到图表和报告，都有文件可追溯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C4EE1-0D92-46A4-86E1-7F486589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CF797-0FCA-47DA-A978-FB590BB7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4F3D2-F8BC-42A9-BD24-0F73A548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DBD9A-339B-45A4-AEA6-1A7FAFF1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2667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DD842-6F60-4EE7-A32C-6399DDD9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66900"/>
            <a:ext cx="236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Paper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CEE46-1487-4CB6-8B56-DAD208A6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9552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理解 ZipServ 的问题、方法和原文结果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3832B-010C-4CCD-B6B4-02F7A0BB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14500"/>
            <a:ext cx="2667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DD4FB-1257-449A-8F1E-1615EB5A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866900"/>
            <a:ext cx="236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CB14A1-5C3C-4F3C-B073-D78F6FAB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9552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编译官方代码并做 CUDA 兼容修复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1BD8A-9FBF-4403-BFFF-150057DA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3143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307D94-D5CC-4B59-87A6-E59C15C3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66900"/>
            <a:ext cx="2838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D7F5F"/>
                </a:solidFill>
              </a:defRPr>
            </a:pPr>
            <a:r>
              <a:rPr sz="2400" b="1">
                <a:solidFill>
                  <a:srgbClr val="1D7F5F"/>
                </a:solidFill>
              </a:rPr>
              <a:t>Experiment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481A13-2266-4932-9EBB-38146F0E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955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完成 test_mm、decompress、N sweep、shape sweep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55A5F-A969-41BB-A852-E1580E95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24250"/>
            <a:ext cx="9810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ZipServ 的价值在于把 lossless compression 从“省存储”推进到“可加速推理”。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我的复现证明官方 kernel benchmark 可以在当前 L20 服务器上运行，并得到可分析的结果。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局限是未完整覆盖原文全部 baseline 和端到端系统实验，后续可继续扩展。</a:t>
            </a:r>
          </a:p>
        </p:txBody>
      </p:sp>
    </p:spTree>
    <p:extLst>
      <p:ext uri="{BB962C8B-B14F-4D97-AF65-F5344CB8AC3E}">
        <p14:creationId xmlns:p14="http://schemas.microsoft.com/office/powerpoint/2010/main" val="12553185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2026-07-14T17:47:20.1880000Z</dcterms:created>
  <dcterms:modified xsi:type="dcterms:W3CDTF">2026-07-14T17:47:20.1880000Z</dcterms:modified>
</coreProperties>
</file>